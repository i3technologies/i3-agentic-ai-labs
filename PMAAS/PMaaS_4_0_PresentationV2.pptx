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33" autoAdjust="0"/>
    <p:restoredTop sz="94610"/>
  </p:normalViewPr>
  <p:slideViewPr>
    <p:cSldViewPr snapToGrid="0" snapToObjects="1">
      <p:cViewPr>
        <p:scale>
          <a:sx n="104" d="100"/>
          <a:sy n="104" d="100"/>
        </p:scale>
        <p:origin x="324" y="-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9379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0" y="0"/>
            <a:ext cx="365760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6600"/>
          </a:solidFill>
          <a:ln w="12700">
            <a:solidFill>
              <a:srgbClr val="0066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92040"/>
            <a:ext cx="9144000" cy="45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084064"/>
            <a:ext cx="9144000" cy="45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743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POLITICAL MARKETING AS A SERVICE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676656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PMaaS 4.0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365760" y="1481328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AGENTIC AI FULL POLITICAL CYCLE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65760" y="1975104"/>
            <a:ext cx="512064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084832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Voter Registration to Victory &amp; Governance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AI Voice Cloning, Agentic Intelligence &amp; Community Networks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080760" y="3200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INNOVATIONS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53328" y="658368"/>
            <a:ext cx="2816352" cy="676656"/>
          </a:xfrm>
          <a:prstGeom prst="rect">
            <a:avLst/>
          </a:prstGeom>
          <a:solidFill>
            <a:srgbClr val="14566A"/>
          </a:solidFill>
          <a:ln w="12700">
            <a:solidFill>
              <a:srgbClr val="1456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53328" y="713232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 Voice Clone Bot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53328" y="969264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Candidate's voice calls every voter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53328" y="1453896"/>
            <a:ext cx="2816352" cy="676656"/>
          </a:xfrm>
          <a:prstGeom prst="rect">
            <a:avLst/>
          </a:prstGeom>
          <a:solidFill>
            <a:srgbClr val="14566A"/>
          </a:solidFill>
          <a:ln w="12700">
            <a:solidFill>
              <a:srgbClr val="1456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53328" y="1508760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Agentic Policy AI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53328" y="1764792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any voter question 24/7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53328" y="2249424"/>
            <a:ext cx="2816352" cy="676656"/>
          </a:xfrm>
          <a:prstGeom prst="rect">
            <a:avLst/>
          </a:prstGeom>
          <a:solidFill>
            <a:srgbClr val="14566A"/>
          </a:solidFill>
          <a:ln w="12700">
            <a:solidFill>
              <a:srgbClr val="1456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53328" y="2304288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Heatmap Intelligence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53328" y="2560320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ward-level analytics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53328" y="3044952"/>
            <a:ext cx="2816352" cy="676656"/>
          </a:xfrm>
          <a:prstGeom prst="rect">
            <a:avLst/>
          </a:prstGeom>
          <a:solidFill>
            <a:srgbClr val="14566A"/>
          </a:solidFill>
          <a:ln w="12700">
            <a:solidFill>
              <a:srgbClr val="1456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53328" y="3099816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🗳️ Full 36-Month Cycle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53328" y="3355848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→ Governance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53328" y="3840480"/>
            <a:ext cx="2816352" cy="676656"/>
          </a:xfrm>
          <a:prstGeom prst="rect">
            <a:avLst/>
          </a:prstGeom>
          <a:solidFill>
            <a:srgbClr val="14566A"/>
          </a:solidFill>
          <a:ln w="12700">
            <a:solidFill>
              <a:srgbClr val="1456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53328" y="3895344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Jambocom + Digital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53328" y="4151376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+ Digital unified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" y="4626864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 TECHNOLOGIES LIMITED  |  JAMBOCOM GENERAL MERCHANTS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65760" y="480974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Silver Business Partner CEID: 7SQ30  |  Kenya 2027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3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FULL POLITICAL CYCLE — AI AT EVERY TOUCHPOINT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Months of Continuous Campaign Intelligence: Registration → Campaign → Polling Day → Governance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2304288"/>
            <a:ext cx="8686800" cy="91440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143000"/>
            <a:ext cx="1005840" cy="1078992"/>
          </a:xfrm>
          <a:prstGeom prst="rect">
            <a:avLst/>
          </a:prstGeom>
          <a:solidFill>
            <a:srgbClr val="0A234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1887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8600" y="14630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28600" y="172821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Apr–Jun 26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12648" y="2249424"/>
            <a:ext cx="219456" cy="219456"/>
          </a:xfrm>
          <a:prstGeom prst="lin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2523744"/>
            <a:ext cx="1005840" cy="2148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" y="2523744"/>
            <a:ext cx="1005840" cy="6400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3464" y="2633472"/>
            <a:ext cx="89611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clone, voter DB, community network onboarding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307592" y="1143000"/>
            <a:ext cx="1005840" cy="1078992"/>
          </a:xfrm>
          <a:prstGeom prst="rect">
            <a:avLst/>
          </a:prstGeom>
          <a:solidFill>
            <a:srgbClr val="1B7A7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307592" y="11887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07592" y="14630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307592" y="172821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Jul–Dec 26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691640" y="2249424"/>
            <a:ext cx="219456" cy="219456"/>
          </a:xfrm>
          <a:prstGeom prst="line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07592" y="2523744"/>
            <a:ext cx="1005840" cy="2148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307592" y="2523744"/>
            <a:ext cx="1005840" cy="64008"/>
          </a:xfrm>
          <a:prstGeom prst="rect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62456" y="2633472"/>
            <a:ext cx="89611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outreach to unregistered voters. Jisajili campaign.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386584" y="1143000"/>
            <a:ext cx="1005840" cy="1078992"/>
          </a:xfrm>
          <a:prstGeom prst="rect">
            <a:avLst/>
          </a:prstGeom>
          <a:solidFill>
            <a:srgbClr val="4C1D9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386584" y="11887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386584" y="14630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NOMINATION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386584" y="172821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Jan–Mar 27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770632" y="2249424"/>
            <a:ext cx="219456" cy="219456"/>
          </a:xfrm>
          <a:prstGeom prst="line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86584" y="2523744"/>
            <a:ext cx="1005840" cy="2148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386584" y="2523744"/>
            <a:ext cx="1005840" cy="64008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41448" y="2633472"/>
            <a:ext cx="89611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Manifesto AI. Opponent intel. Nomination outreach.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465576" y="1143000"/>
            <a:ext cx="1005840" cy="1078992"/>
          </a:xfrm>
          <a:prstGeom prst="rect">
            <a:avLst/>
          </a:prstGeom>
          <a:solidFill>
            <a:srgbClr val="C9A84C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465576" y="11887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3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465576" y="14630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465576" y="172821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Apr–Jun 27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849624" y="2249424"/>
            <a:ext cx="219456" cy="219456"/>
          </a:xfrm>
          <a:prstGeom prst="lin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65576" y="2523744"/>
            <a:ext cx="1005840" cy="2148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465576" y="2523744"/>
            <a:ext cx="1005840" cy="6400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20440" y="2633472"/>
            <a:ext cx="89611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Room live. TikTok engine. WhatsApp architecture.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544568" y="1143000"/>
            <a:ext cx="1005840" cy="1078992"/>
          </a:xfrm>
          <a:prstGeom prst="rect">
            <a:avLst/>
          </a:prstGeom>
          <a:solidFill>
            <a:srgbClr val="92400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544568" y="11887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P4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544568" y="14630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44568" y="172821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Jul–Aug 27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928616" y="2249424"/>
            <a:ext cx="219456" cy="219456"/>
          </a:xfrm>
          <a:prstGeom prst="line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44568" y="2523744"/>
            <a:ext cx="1005840" cy="2148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544568" y="2523744"/>
            <a:ext cx="1005840" cy="64008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99432" y="2633472"/>
            <a:ext cx="89611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 calls/day. Swing ward rescue. Closing Argument AI.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623560" y="1143000"/>
            <a:ext cx="1005840" cy="1078992"/>
          </a:xfrm>
          <a:prstGeom prst="rect">
            <a:avLst/>
          </a:prstGeom>
          <a:solidFill>
            <a:srgbClr val="B71C1C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5623560" y="11887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P5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623560" y="14630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DAY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623560" y="172821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Election Day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007608" y="2249424"/>
            <a:ext cx="219456" cy="219456"/>
          </a:xfrm>
          <a:prstGeom prst="lin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623560" y="2523744"/>
            <a:ext cx="1005840" cy="2148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5623560" y="2523744"/>
            <a:ext cx="1005840" cy="6400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678424" y="2633472"/>
            <a:ext cx="89611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5:30am call burst. Turnout dashboard. 3 SMS waves.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702552" y="1143000"/>
            <a:ext cx="1005840" cy="1078992"/>
          </a:xfrm>
          <a:prstGeom prst="rect">
            <a:avLst/>
          </a:prstGeom>
          <a:solidFill>
            <a:srgbClr val="0E749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6702552" y="11887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P6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702552" y="14630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VICTORY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702552" y="172821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Aug–Sep 27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7086600" y="2249424"/>
            <a:ext cx="219456" cy="219456"/>
          </a:xfrm>
          <a:prstGeom prst="lin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702552" y="2523744"/>
            <a:ext cx="1005840" cy="2148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702552" y="2523744"/>
            <a:ext cx="1005840" cy="6400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757416" y="2633472"/>
            <a:ext cx="89611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60-sec victory deploy. Thank-you broadcast. Petition AI.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7781544" y="1143000"/>
            <a:ext cx="1005840" cy="1078992"/>
          </a:xfrm>
          <a:prstGeom prst="rect">
            <a:avLst/>
          </a:prstGeom>
          <a:solidFill>
            <a:srgbClr val="374151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7781544" y="11887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P7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7781544" y="14630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7781544" y="172821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27+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8165592" y="2249424"/>
            <a:ext cx="219456" cy="219456"/>
          </a:xfrm>
          <a:prstGeom prst="lin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781544" y="2523744"/>
            <a:ext cx="1005840" cy="2148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7781544" y="2523744"/>
            <a:ext cx="1005840" cy="6400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836408" y="2633472"/>
            <a:ext cx="89611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Manifesto tracker. Constituency bot. 2032 prep.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 Technologies Limited  |  PMaaS 4.0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AGENTIC AI VOICE-CLONE CONTACT CENTRE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132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Candidate Speaks to Every Voter — Personally — At Scale — 24/7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29000" y="1417320"/>
            <a:ext cx="2286000" cy="2286000"/>
          </a:xfrm>
          <a:prstGeom prst="line">
            <a:avLst/>
          </a:prstGeom>
          <a:solidFill>
            <a:srgbClr val="4C1D9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29000" y="141732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VOICE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82880" y="1353312"/>
            <a:ext cx="3063240" cy="1078992"/>
          </a:xfrm>
          <a:prstGeom prst="rect">
            <a:avLst/>
          </a:prstGeom>
          <a:solidFill>
            <a:srgbClr val="0D2E5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0896" y="1499616"/>
            <a:ext cx="420624" cy="420624"/>
          </a:xfrm>
          <a:prstGeom prst="lin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1527048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41248" y="1463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Clone Engine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37744" y="181051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 + Watson TTS — candidate's voice from 30-min audio sample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182880" y="2569464"/>
            <a:ext cx="3063240" cy="1078992"/>
          </a:xfrm>
          <a:prstGeom prst="rect">
            <a:avLst/>
          </a:prstGeom>
          <a:solidFill>
            <a:srgbClr val="0D2E5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10896" y="2715768"/>
            <a:ext cx="420624" cy="420624"/>
          </a:xfrm>
          <a:prstGeom prst="lin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" y="274320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41248" y="26791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Knowledge Base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237744" y="3026664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watsonx.ai ingests full manifesto. Answers 200+ topics accurately.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182880" y="3785616"/>
            <a:ext cx="3063240" cy="1078992"/>
          </a:xfrm>
          <a:prstGeom prst="rect">
            <a:avLst/>
          </a:prstGeom>
          <a:solidFill>
            <a:srgbClr val="0D2E5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10896" y="3931920"/>
            <a:ext cx="420624" cy="420624"/>
          </a:xfrm>
          <a:prstGeom prst="lin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" y="3959352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41248" y="38953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Campaigns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237744" y="4242816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5K–500K personalised calls/day. Every voter called by name from their ward.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5897880" y="1353312"/>
            <a:ext cx="3063240" cy="1078992"/>
          </a:xfrm>
          <a:prstGeom prst="rect">
            <a:avLst/>
          </a:prstGeom>
          <a:solidFill>
            <a:srgbClr val="0D2E5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035040" y="1499616"/>
            <a:ext cx="420624" cy="420624"/>
          </a:xfrm>
          <a:prstGeom prst="line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2472" y="1527048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565392" y="1463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AI Bot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5961888" y="181051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policy brain. Text-based. 24/7. Gamified quiz. Donation flow.</a:t>
            </a:r>
            <a:endParaRPr 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5897880" y="2569464"/>
            <a:ext cx="3063240" cy="1078992"/>
          </a:xfrm>
          <a:prstGeom prst="rect">
            <a:avLst/>
          </a:prstGeom>
          <a:solidFill>
            <a:srgbClr val="0D2E5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6035040" y="2715768"/>
            <a:ext cx="420624" cy="420624"/>
          </a:xfrm>
          <a:prstGeom prst="lin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62472" y="2743200"/>
            <a:ext cx="365760" cy="36576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565392" y="26791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Tagging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5961888" y="3026664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tagged: Supporter/Undecided/Opposition. War Room updated live.</a:t>
            </a:r>
            <a:endParaRPr lang="en-US" sz="850" dirty="0"/>
          </a:p>
        </p:txBody>
      </p:sp>
      <p:sp>
        <p:nvSpPr>
          <p:cNvPr id="33" name="Shape 26"/>
          <p:cNvSpPr/>
          <p:nvPr/>
        </p:nvSpPr>
        <p:spPr>
          <a:xfrm>
            <a:off x="5897880" y="3785616"/>
            <a:ext cx="3063240" cy="1078992"/>
          </a:xfrm>
          <a:prstGeom prst="rect">
            <a:avLst/>
          </a:prstGeom>
          <a:solidFill>
            <a:srgbClr val="0D2E5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6035040" y="3931920"/>
            <a:ext cx="420624" cy="420624"/>
          </a:xfrm>
          <a:prstGeom prst="lin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62472" y="3959352"/>
            <a:ext cx="365760" cy="36576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565392" y="38953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Escalation</a:t>
            </a:r>
            <a:endParaRPr lang="en-US" sz="1000" dirty="0"/>
          </a:p>
        </p:txBody>
      </p:sp>
      <p:sp>
        <p:nvSpPr>
          <p:cNvPr id="37" name="Text 29"/>
          <p:cNvSpPr/>
          <p:nvPr/>
        </p:nvSpPr>
        <p:spPr>
          <a:xfrm>
            <a:off x="5961888" y="4242816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queries → live agent within 30 seconds. Never a dead end.</a:t>
            </a:r>
            <a:endParaRPr lang="en-US" sz="850" dirty="0"/>
          </a:p>
        </p:txBody>
      </p:sp>
      <p:sp>
        <p:nvSpPr>
          <p:cNvPr id="38" name="Shape 3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PMaaS 4.0 — AI Voice-Clone Contact Centre  |  i3 Technologies Limited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3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CALL FLOW — HOW A VOTER CALL WORKS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9-Step Conversation Architecture: Personalised by Name, Ward, and Issue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2743200" cy="1170432"/>
          </a:xfrm>
          <a:prstGeom prst="rect">
            <a:avLst/>
          </a:prstGeom>
          <a:solidFill>
            <a:srgbClr val="F4F7F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56616" y="1170432"/>
            <a:ext cx="347472" cy="347472"/>
          </a:xfrm>
          <a:prstGeom prst="line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" y="1170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18872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6616" y="155448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'Hello [Name], this is [Candidate]...'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56616" y="190195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Voter ID from 2022 DB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172968" y="1097280"/>
            <a:ext cx="2743200" cy="1170432"/>
          </a:xfrm>
          <a:prstGeom prst="rect">
            <a:avLst/>
          </a:prstGeom>
          <a:solidFill>
            <a:srgbClr val="F4F7F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00984" y="1170432"/>
            <a:ext cx="347472" cy="347472"/>
          </a:xfrm>
          <a:prstGeom prst="line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00984" y="1170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21608" y="118872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HOOK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00984" y="155448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 know [Road X] has been a problem...'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300984" y="190195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Ward-specific issue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117336" y="1097280"/>
            <a:ext cx="2743200" cy="1170432"/>
          </a:xfrm>
          <a:prstGeom prst="rect">
            <a:avLst/>
          </a:prstGeom>
          <a:solidFill>
            <a:srgbClr val="F4F7F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45352" y="1170432"/>
            <a:ext cx="347472" cy="347472"/>
          </a:xfrm>
          <a:prstGeom prst="line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45352" y="1170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65976" y="118872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45352" y="155448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'My first 90 days: KES [X]M for [Project]'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245352" y="190195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promise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28600" y="2377440"/>
            <a:ext cx="2743200" cy="1170432"/>
          </a:xfrm>
          <a:prstGeom prst="rect">
            <a:avLst/>
          </a:prstGeom>
          <a:solidFill>
            <a:srgbClr val="F4F7F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56616" y="2450592"/>
            <a:ext cx="347472" cy="347472"/>
          </a:xfrm>
          <a:prstGeom prst="line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6616" y="2450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" y="246888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56616" y="283464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'Any questions? I'm listening.'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56616" y="318211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conversation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172968" y="2377440"/>
            <a:ext cx="2743200" cy="1170432"/>
          </a:xfrm>
          <a:prstGeom prst="rect">
            <a:avLst/>
          </a:prstGeom>
          <a:solidFill>
            <a:srgbClr val="4C1D9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300984" y="2450592"/>
            <a:ext cx="347472" cy="347472"/>
          </a:xfrm>
          <a:prstGeom prst="lin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00984" y="2450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721608" y="246888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ANSWERS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300984" y="283464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Voter asks anything → Policy KB responds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300984" y="318211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topics covered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117336" y="2377440"/>
            <a:ext cx="2743200" cy="1170432"/>
          </a:xfrm>
          <a:prstGeom prst="rect">
            <a:avLst/>
          </a:prstGeom>
          <a:solidFill>
            <a:srgbClr val="F4F7F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45352" y="2450592"/>
            <a:ext cx="347472" cy="347472"/>
          </a:xfrm>
          <a:prstGeom prst="line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45352" y="2450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665976" y="246888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45352" y="283464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'Press 1-5: how likely to vote for me?'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245352" y="318211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tagging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28600" y="3657600"/>
            <a:ext cx="2743200" cy="1170432"/>
          </a:xfrm>
          <a:prstGeom prst="rect">
            <a:avLst/>
          </a:prstGeom>
          <a:solidFill>
            <a:srgbClr val="F4F7F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56616" y="3730752"/>
            <a:ext cx="347472" cy="347472"/>
          </a:xfrm>
          <a:prstGeom prst="line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6616" y="3730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77240" y="374904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PLEDGE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56616" y="411480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'Your station: [X]. Can I count on you?'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56616" y="446227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 capture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172968" y="3657600"/>
            <a:ext cx="2743200" cy="1170432"/>
          </a:xfrm>
          <a:prstGeom prst="rect">
            <a:avLst/>
          </a:prstGeom>
          <a:solidFill>
            <a:srgbClr val="F4F7F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300984" y="3730752"/>
            <a:ext cx="347472" cy="347472"/>
          </a:xfrm>
          <a:prstGeom prst="line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00984" y="3730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721608" y="374904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300984" y="411480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'Thank you [Name]. See you Election Day.'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3300984" y="446227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Warm, personalised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117336" y="3657600"/>
            <a:ext cx="2743200" cy="1170432"/>
          </a:xfrm>
          <a:prstGeom prst="rect">
            <a:avLst/>
          </a:prstGeom>
          <a:solidFill>
            <a:srgbClr val="F4F7F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245352" y="3730752"/>
            <a:ext cx="347472" cy="347472"/>
          </a:xfrm>
          <a:prstGeom prst="line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45352" y="3730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665976" y="374904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LOG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245352" y="411480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responses → CRM → Heatmap updates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245352" y="446227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manual entry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 Technologies Limited  |  PMaaS 4.0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EXCLUSIVE DATA ASSETS — THE UNFAIR ADVANTAGE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Competitor in Kenya Has All Four. We Have All Four.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115568"/>
            <a:ext cx="2011680" cy="3611880"/>
          </a:xfrm>
          <a:prstGeom prst="rect">
            <a:avLst/>
          </a:prstGeom>
          <a:solidFill>
            <a:srgbClr val="0D2E5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15568"/>
            <a:ext cx="201168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1280160"/>
            <a:ext cx="676656" cy="676656"/>
          </a:xfrm>
          <a:prstGeom prst="line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1316736"/>
            <a:ext cx="603504" cy="6035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204825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2022 VOTER MASTER DATABASE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38328" y="2542032"/>
            <a:ext cx="1792224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22M+ records: Full name · Phone number · Polling station. Every registered voter. Segmented by ward, constituency, and county.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819656" y="4389120"/>
            <a:ext cx="310896" cy="310896"/>
          </a:xfrm>
          <a:prstGeom prst="lin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819656" y="4389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404872" y="1115568"/>
            <a:ext cx="2011680" cy="3611880"/>
          </a:xfrm>
          <a:prstGeom prst="rect">
            <a:avLst/>
          </a:prstGeom>
          <a:solidFill>
            <a:srgbClr val="0D2E5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404872" y="1115568"/>
            <a:ext cx="201168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072384" y="1280160"/>
            <a:ext cx="676656" cy="676656"/>
          </a:xfrm>
          <a:prstGeom prst="line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1316736"/>
            <a:ext cx="603504" cy="60350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496312" y="204825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NATIONAL EDUCATION NETWORK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514600" y="2542032"/>
            <a:ext cx="1792224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Head Teachers and Teachers nationwide. Trusted community influencer layer. Youth gateway. School as civic rally point.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3995928" y="4389120"/>
            <a:ext cx="310896" cy="310896"/>
          </a:xfrm>
          <a:prstGeom prst="lin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995928" y="4389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581144" y="1115568"/>
            <a:ext cx="2011680" cy="3611880"/>
          </a:xfrm>
          <a:prstGeom prst="rect">
            <a:avLst/>
          </a:prstGeom>
          <a:solidFill>
            <a:srgbClr val="0D2E5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581144" y="1115568"/>
            <a:ext cx="201168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248656" y="1280160"/>
            <a:ext cx="676656" cy="676656"/>
          </a:xfrm>
          <a:prstGeom prst="line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5232" y="1316736"/>
            <a:ext cx="603504" cy="60350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672584" y="204825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COMMUNITY LEADERSHIP NETWORK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4690872" y="2542032"/>
            <a:ext cx="1792224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Chiefs · Assistant Chiefs · Village Managers · Nyumba Kumi. From county HQ to 10-household cluster. Last-mile coverage.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6172200" y="4389120"/>
            <a:ext cx="310896" cy="310896"/>
          </a:xfrm>
          <a:prstGeom prst="lin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172200" y="4389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6757416" y="1115568"/>
            <a:ext cx="2011680" cy="3611880"/>
          </a:xfrm>
          <a:prstGeom prst="rect">
            <a:avLst/>
          </a:prstGeom>
          <a:solidFill>
            <a:srgbClr val="0D2E5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6757416" y="1115568"/>
            <a:ext cx="201168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24928" y="1280160"/>
            <a:ext cx="676656" cy="676656"/>
          </a:xfrm>
          <a:prstGeom prst="line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1504" y="1316736"/>
            <a:ext cx="603504" cy="60350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848856" y="204825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NATIONAL CHURCH LEADERS NETWORK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6867144" y="2542032"/>
            <a:ext cx="1792224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denominations · All regions. Kenya's highest-trust gathering point. Sunday announcements. Youth ministry engagement.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8348472" y="4389120"/>
            <a:ext cx="310896" cy="310896"/>
          </a:xfrm>
          <a:prstGeom prst="lin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8348472" y="4389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228600" y="473659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COMBINED: Hyper-personalised voter reach from individual phone number to every polling station — physically and digitally, simultaneously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 Technologies Limited  |  PMaaS 4.0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3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 Z — THE DECISIVE DEMOGRAPHIC | 7 MILLION VOTES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Authentic. Digital-First. M-Pesa Native. Won with Tech and Community.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78992"/>
            <a:ext cx="3246120" cy="3611880"/>
          </a:xfrm>
          <a:prstGeom prst="rect">
            <a:avLst/>
          </a:prstGeom>
          <a:solidFill>
            <a:srgbClr val="92400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207008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7,000,000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228600" y="208483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Z Voters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(18–26) in 2027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2670048"/>
            <a:ext cx="306324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798064"/>
            <a:ext cx="219456" cy="219456"/>
          </a:xfrm>
          <a:prstGeom prst="lin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8163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TikTok-First: 2-3hrs/day. Political discovery via peers.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3145536"/>
            <a:ext cx="219456" cy="219456"/>
          </a:xfrm>
          <a:prstGeom prst="lin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1638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WhatsApp Native: Primary communication. Share culture.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3493008"/>
            <a:ext cx="219456" cy="219456"/>
          </a:xfrm>
          <a:prstGeom prst="lin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5112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M-Pesa Native: Airtime rewards drive registration action.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3840480"/>
            <a:ext cx="219456" cy="219456"/>
          </a:xfrm>
          <a:prstGeom prst="lin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8587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Authenticity Filter: Spots a scripted politician instantly.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4187952"/>
            <a:ext cx="219456" cy="219456"/>
          </a:xfrm>
          <a:prstGeom prst="lin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4206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Peer-Led: Micro-influencers &gt; celebrities always.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0" y="1078992"/>
            <a:ext cx="2450592" cy="1115568"/>
          </a:xfrm>
          <a:prstGeom prst="rect">
            <a:avLst/>
          </a:prstGeom>
          <a:solidFill>
            <a:srgbClr val="F4F7F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0" y="1078992"/>
            <a:ext cx="2450592" cy="64008"/>
          </a:xfrm>
          <a:prstGeom prst="rect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67328" y="1225296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Virality Engine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767328" y="1499616"/>
            <a:ext cx="22311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5-7 AI-gen videos/week. Trend scan every 2hrs. Sheng captions. Real moments.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291072" y="1078992"/>
            <a:ext cx="2450592" cy="1115568"/>
          </a:xfrm>
          <a:prstGeom prst="rect">
            <a:avLst/>
          </a:prstGeom>
          <a:solidFill>
            <a:srgbClr val="F4F7F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91072" y="1078992"/>
            <a:ext cx="2450592" cy="64008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1225296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WhatsApp Quiz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00800" y="1499616"/>
            <a:ext cx="22311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quiz → Candidate Alignment Score → viral share → peer recruitment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0" y="2322576"/>
            <a:ext cx="2450592" cy="1115568"/>
          </a:xfrm>
          <a:prstGeom prst="rect">
            <a:avLst/>
          </a:prstGeom>
          <a:solidFill>
            <a:srgbClr val="F4F7F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0" y="2322576"/>
            <a:ext cx="2450592" cy="64008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67328" y="2468880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Volunteer Army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767328" y="2743200"/>
            <a:ext cx="22311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mission system + M-Pesa airtime rewards. 5,000 active volunteers per constituency.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291072" y="2322576"/>
            <a:ext cx="2450592" cy="1115568"/>
          </a:xfrm>
          <a:prstGeom prst="rect">
            <a:avLst/>
          </a:prstGeom>
          <a:solidFill>
            <a:srgbClr val="F4F7F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91072" y="2322576"/>
            <a:ext cx="2450592" cy="64008"/>
          </a:xfrm>
          <a:prstGeom prst="rect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2468880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Activation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00800" y="2743200"/>
            <a:ext cx="22311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geo-invitations + Jambocom merch. Every university town. QR code on every item.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657600" y="3566160"/>
            <a:ext cx="2450592" cy="1115568"/>
          </a:xfrm>
          <a:prstGeom prst="rect">
            <a:avLst/>
          </a:prstGeom>
          <a:solidFill>
            <a:srgbClr val="F4F7F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657600" y="3566160"/>
            <a:ext cx="2450592" cy="6400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67328" y="3712464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Closing Argument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767328" y="3986784"/>
            <a:ext cx="22311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days before polling: personalised AI voice note to every undecided youth voter.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291072" y="3566160"/>
            <a:ext cx="2450592" cy="1115568"/>
          </a:xfrm>
          <a:prstGeom prst="rect">
            <a:avLst/>
          </a:prstGeom>
          <a:solidFill>
            <a:srgbClr val="F4F7F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291072" y="3566160"/>
            <a:ext cx="2450592" cy="64008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0" y="3712464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Anti-Deepfake Pledge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400800" y="3986784"/>
            <a:ext cx="22311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commitment. Weekly 'Authenticity Certificate'. Differentiates from rivals.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 Technologies Limited  |  PMaaS 4.0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AI DIGITAL WAR ROOM — REAL-TIME CAMPAIGN INTELLIGENCE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Data Streams. Autonomous AI Agents. Live Ward-Level Heatmaps.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115568"/>
            <a:ext cx="2743200" cy="1691640"/>
          </a:xfrm>
          <a:prstGeom prst="rect">
            <a:avLst/>
          </a:prstGeom>
          <a:solidFill>
            <a:srgbClr val="0D2E5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56616" y="1261872"/>
            <a:ext cx="457200" cy="457200"/>
          </a:xfrm>
          <a:prstGeom prst="lin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129844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23544" y="12435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Research Bot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38328" y="1828800"/>
            <a:ext cx="250545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monitoring of X, TikTok, Facebook, WhatsApp + radio. Daily 300-word strategic brief.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172968" y="1115568"/>
            <a:ext cx="2743200" cy="1691640"/>
          </a:xfrm>
          <a:prstGeom prst="rect">
            <a:avLst/>
          </a:prstGeom>
          <a:solidFill>
            <a:srgbClr val="0D2E5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00984" y="1261872"/>
            <a:ext cx="457200" cy="457200"/>
          </a:xfrm>
          <a:prstGeom prst="lin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298448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67912" y="12435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Heatmap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3282696" y="1828800"/>
            <a:ext cx="250545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sentiment updated every 6 hours from 7 streams. Momentum arrows. Swing wards highlighted.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117336" y="1115568"/>
            <a:ext cx="2743200" cy="1691640"/>
          </a:xfrm>
          <a:prstGeom prst="rect">
            <a:avLst/>
          </a:prstGeom>
          <a:solidFill>
            <a:srgbClr val="0D2E5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45352" y="1261872"/>
            <a:ext cx="457200" cy="457200"/>
          </a:xfrm>
          <a:prstGeom prst="lin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928" y="1298448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12280" y="12435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Defense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6227064" y="1828800"/>
            <a:ext cx="250545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scans all platforms every 15 minutes. Official Truth Response in 90 minutes.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228600" y="2990088"/>
            <a:ext cx="2743200" cy="1691640"/>
          </a:xfrm>
          <a:prstGeom prst="rect">
            <a:avLst/>
          </a:prstGeom>
          <a:solidFill>
            <a:srgbClr val="0D2E5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56616" y="3136392"/>
            <a:ext cx="457200" cy="457200"/>
          </a:xfrm>
          <a:prstGeom prst="lin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192" y="3172968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3544" y="31181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Response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338328" y="3703320"/>
            <a:ext cx="250545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Rival makes statement → counter-narrative draft in 60 minutes → human approves → deployed.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3172968" y="2990088"/>
            <a:ext cx="2743200" cy="1691640"/>
          </a:xfrm>
          <a:prstGeom prst="rect">
            <a:avLst/>
          </a:prstGeom>
          <a:solidFill>
            <a:srgbClr val="0D2E5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300984" y="3136392"/>
            <a:ext cx="457200" cy="457200"/>
          </a:xfrm>
          <a:prstGeom prst="lin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7560" y="3172968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867912" y="31181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Dashboard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3282696" y="3703320"/>
            <a:ext cx="250545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call, SMS reply, and WhatsApp message tagged and aggregated to polling station level.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6117336" y="2990088"/>
            <a:ext cx="2743200" cy="1691640"/>
          </a:xfrm>
          <a:prstGeom prst="rect">
            <a:avLst/>
          </a:prstGeom>
          <a:solidFill>
            <a:srgbClr val="0D2E5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245352" y="3136392"/>
            <a:ext cx="457200" cy="457200"/>
          </a:xfrm>
          <a:prstGeom prst="lin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1928" y="3172968"/>
            <a:ext cx="384048" cy="38404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812280" y="31181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Ward Rescue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6227064" y="3703320"/>
            <a:ext cx="250545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identifies 50 most winnable borderline wards. Surge-deploys resources. 3x call intensity.</a:t>
            </a:r>
            <a:endParaRPr lang="en-US" sz="900" dirty="0"/>
          </a:p>
        </p:txBody>
      </p:sp>
      <p:sp>
        <p:nvSpPr>
          <p:cNvPr id="35" name="Shape 2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 Technologies Limited  |  PMaaS 4.0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3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POLLING DAY — AI OPERATIONS TIMELINE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5:30am Wake-Up Call to 60-Second Victory Deployment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78992"/>
            <a:ext cx="4279392" cy="676656"/>
          </a:xfrm>
          <a:prstGeom prst="rect">
            <a:avLst/>
          </a:prstGeom>
          <a:solidFill>
            <a:srgbClr val="F4F7F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78992"/>
            <a:ext cx="822960" cy="676656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78992"/>
            <a:ext cx="822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05:30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4712" y="1152144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Wake-Up Calls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24712" y="1408176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 voice bursts to all pledged supporters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90872" y="1078992"/>
            <a:ext cx="4279392" cy="676656"/>
          </a:xfrm>
          <a:prstGeom prst="rect">
            <a:avLst/>
          </a:prstGeom>
          <a:solidFill>
            <a:srgbClr val="F4F7F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90872" y="1078992"/>
            <a:ext cx="822960" cy="676656"/>
          </a:xfrm>
          <a:prstGeom prst="rect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1078992"/>
            <a:ext cx="822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06:00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86984" y="1152144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Turnout Dashboard LIVE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586984" y="1408176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tracking across all 1,882 stations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8600" y="1847088"/>
            <a:ext cx="4279392" cy="676656"/>
          </a:xfrm>
          <a:prstGeom prst="rect">
            <a:avLst/>
          </a:prstGeom>
          <a:solidFill>
            <a:srgbClr val="F4F7F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1847088"/>
            <a:ext cx="822960" cy="676656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1847088"/>
            <a:ext cx="822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06:30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24712" y="1920240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Wave 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24712" y="2176272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'Today is the day. Your station: [X]'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90872" y="1847088"/>
            <a:ext cx="4279392" cy="676656"/>
          </a:xfrm>
          <a:prstGeom prst="rect">
            <a:avLst/>
          </a:prstGeom>
          <a:solidFill>
            <a:srgbClr val="F4F7F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90872" y="1847088"/>
            <a:ext cx="822960" cy="676656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90872" y="1847088"/>
            <a:ext cx="822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08:00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86984" y="1920240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Wave 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86984" y="2176272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'Have you voted yet? 2 hours in.'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2615184"/>
            <a:ext cx="4279392" cy="676656"/>
          </a:xfrm>
          <a:prstGeom prst="rect">
            <a:avLst/>
          </a:prstGeom>
          <a:solidFill>
            <a:srgbClr val="F4F7F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2615184"/>
            <a:ext cx="822960" cy="676656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2615184"/>
            <a:ext cx="822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10:00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24712" y="2688336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AI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24712" y="2944368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far voters not yet voted → 'Need a ride?'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90872" y="2615184"/>
            <a:ext cx="4279392" cy="676656"/>
          </a:xfrm>
          <a:prstGeom prst="rect">
            <a:avLst/>
          </a:prstGeom>
          <a:solidFill>
            <a:srgbClr val="F4F7F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90872" y="2615184"/>
            <a:ext cx="822960" cy="676656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90872" y="2615184"/>
            <a:ext cx="822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12:00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586984" y="2688336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Wave 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586984" y="2944368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'Midday reminder — polls close 5pm'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28600" y="3383280"/>
            <a:ext cx="4279392" cy="676656"/>
          </a:xfrm>
          <a:prstGeom prst="rect">
            <a:avLst/>
          </a:prstGeom>
          <a:solidFill>
            <a:srgbClr val="F4F7F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28600" y="3383280"/>
            <a:ext cx="822960" cy="676656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8600" y="3383280"/>
            <a:ext cx="822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13:00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124712" y="3456432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Ward Surge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124712" y="3712464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triples call intensity to borderline wards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90872" y="3383280"/>
            <a:ext cx="4279392" cy="676656"/>
          </a:xfrm>
          <a:prstGeom prst="rect">
            <a:avLst/>
          </a:prstGeom>
          <a:solidFill>
            <a:srgbClr val="F4F7F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90872" y="3383280"/>
            <a:ext cx="822960" cy="676656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90872" y="3383280"/>
            <a:ext cx="822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15:30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586984" y="3456432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Voice Push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586984" y="3712464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'Last 90 minutes. Your vote counts. Go now.'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28600" y="4151376"/>
            <a:ext cx="4279392" cy="676656"/>
          </a:xfrm>
          <a:prstGeom prst="rect">
            <a:avLst/>
          </a:prstGeom>
          <a:solidFill>
            <a:srgbClr val="F4F7F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28600" y="4151376"/>
            <a:ext cx="822960" cy="676656"/>
          </a:xfrm>
          <a:prstGeom prst="rect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8600" y="4151376"/>
            <a:ext cx="822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17:00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124712" y="4224528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Mode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124712" y="4480560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cross-references agent reports vs IEBC feed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690872" y="4151376"/>
            <a:ext cx="4279392" cy="676656"/>
          </a:xfrm>
          <a:prstGeom prst="rect">
            <a:avLst/>
          </a:prstGeom>
          <a:solidFill>
            <a:srgbClr val="F4F7F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690872" y="4151376"/>
            <a:ext cx="822960" cy="676656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90872" y="4151376"/>
            <a:ext cx="822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WIN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586984" y="4224528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Victory Deploy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586984" y="4480560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asset launch within 60 seconds of official result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 Technologies Limited  |  PMaaS 4.0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3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PMaaS 4.0 INTEGRATED PACKAGES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Ward Level to National Presidential Campaign — One Unified Platform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2011680" cy="3749040"/>
          </a:xfrm>
          <a:prstGeom prst="rect">
            <a:avLst/>
          </a:prstGeom>
          <a:solidFill>
            <a:srgbClr val="1B7A7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1155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WARD BUNDLE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1752" y="1371600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/ Ward Rep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01752" y="1609344"/>
            <a:ext cx="1865376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" y="1609344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3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KES 450,000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204825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Starter PMaaS digital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20040" y="23957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voice bot (5K calls/mo)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0040" y="2743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WhatsApp policy bot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0040" y="30906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SMS + TikTok basic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20040" y="34381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500 T-shirts + 200 caps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20040" y="37856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200 lessos + 100 handkerchieves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0040" y="41330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QR codes on all items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404872" y="1051560"/>
            <a:ext cx="2011680" cy="3749040"/>
          </a:xfrm>
          <a:prstGeom prst="rect">
            <a:avLst/>
          </a:prstGeom>
          <a:solidFill>
            <a:srgbClr val="0A234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404872" y="11155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CONSTITUENCY BUNDLE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478024" y="1371600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of Parliament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478024" y="1609344"/>
            <a:ext cx="1865376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78024" y="1609344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3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KES 1,200,000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496312" y="204825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 PMaaS: full TikTok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496312" y="23957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50K AI calls/month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496312" y="2743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WhatsApp community arch.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496312" y="30906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Ward-level heatmaps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496312" y="34381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2,000 T-shirts + 1,000 caps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496312" y="37856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500 overalls + 500 lessos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496312" y="41330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 uniform kits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81144" y="1051560"/>
            <a:ext cx="2011680" cy="3749040"/>
          </a:xfrm>
          <a:prstGeom prst="rect">
            <a:avLst/>
          </a:prstGeom>
          <a:solidFill>
            <a:srgbClr val="1B7A7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81144" y="11155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COUNTY BUNDLE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54296" y="1371600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Governor / Senator / WR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54296" y="1609344"/>
            <a:ext cx="1865376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54296" y="1609344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3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KES 3,500,000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672584" y="204825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Pro+ PMaaS: all heatmaps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672584" y="23957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Community network (all 4 tiers)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672584" y="2743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Church + Teacher networks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672584" y="30906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TikTok virality engine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672584" y="34381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5,000 T-shirts + 2,000 caps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672584" y="37856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Flags + gazebos + banners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672584" y="41330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Governance transition pkg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757416" y="1051560"/>
            <a:ext cx="2011680" cy="3749040"/>
          </a:xfrm>
          <a:prstGeom prst="rect">
            <a:avLst/>
          </a:prstGeom>
          <a:solidFill>
            <a:srgbClr val="C9A84C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757416" y="11155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23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NATIONAL BUNDLE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830568" y="1371600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Presidential Campaign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830568" y="1609344"/>
            <a:ext cx="1865376" cy="38404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30568" y="1609344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KES 10,000,000+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848856" y="204825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Enterprise War Room 24/7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848856" y="23957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500K calls/day AI + live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848856" y="2743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national voter DB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848856" y="30906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4 community tiers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848856" y="34381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National merch programme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848856" y="37856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Unlimited crisis management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848856" y="41330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governance platform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 Technologies Limited  |  PMaaS 4.0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3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i3 TECHNOLOGIES + JAMBOCOM — THE COMPLETE SYSTEM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Intelligence + Physical Brand Power + QR Code Bridge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4160520" cy="3611880"/>
          </a:xfrm>
          <a:prstGeom prst="rect">
            <a:avLst/>
          </a:prstGeom>
          <a:solidFill>
            <a:srgbClr val="0A234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133856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i3 TECHNOLOGIES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44475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ENGINE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8912" y="1810512"/>
            <a:ext cx="182880" cy="182880"/>
          </a:xfrm>
          <a:prstGeom prst="rect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8105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13232" y="1828800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Voice-Clone Contact Centre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2121408"/>
            <a:ext cx="182880" cy="182880"/>
          </a:xfrm>
          <a:prstGeom prst="rect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1214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13232" y="2139696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Voter Database Targeting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8912" y="2432304"/>
            <a:ext cx="182880" cy="182880"/>
          </a:xfrm>
          <a:prstGeom prst="rect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4323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13232" y="2450592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Heatmap War Room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8912" y="2743200"/>
            <a:ext cx="182880" cy="182880"/>
          </a:xfrm>
          <a:prstGeom prst="rect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7432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13232" y="2761488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+ WhatsApp AI Engine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38912" y="3054096"/>
            <a:ext cx="182880" cy="182880"/>
          </a:xfrm>
          <a:prstGeom prst="rect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30540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13232" y="3072384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Network Activation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38912" y="3364992"/>
            <a:ext cx="182880" cy="182880"/>
          </a:xfrm>
          <a:prstGeom prst="rect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33649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13232" y="3383280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Defense 24/7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38912" y="3675888"/>
            <a:ext cx="182880" cy="182880"/>
          </a:xfrm>
          <a:prstGeom prst="rect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36758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13232" y="3694176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Day Operations AI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38912" y="3986784"/>
            <a:ext cx="182880" cy="182880"/>
          </a:xfrm>
          <a:prstGeom prst="rect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39867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13232" y="4005072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Intelligence Platform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160520" y="2514600"/>
            <a:ext cx="822960" cy="822960"/>
          </a:xfrm>
          <a:prstGeom prst="lin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60520" y="2514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A23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</a:t>
            </a:r>
            <a:endParaRPr lang="en-US" sz="3200" dirty="0"/>
          </a:p>
        </p:txBody>
      </p:sp>
      <p:sp>
        <p:nvSpPr>
          <p:cNvPr id="34" name="Shape 32"/>
          <p:cNvSpPr/>
          <p:nvPr/>
        </p:nvSpPr>
        <p:spPr>
          <a:xfrm>
            <a:off x="4754880" y="1051560"/>
            <a:ext cx="4160520" cy="3611880"/>
          </a:xfrm>
          <a:prstGeom prst="rect">
            <a:avLst/>
          </a:prstGeom>
          <a:solidFill>
            <a:srgbClr val="1B7A7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46320" y="1133856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JAMBOCOM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846320" y="144475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BRANDING &amp; POLITICAL ACCESS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919472" y="1810512"/>
            <a:ext cx="182880" cy="1828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19472" y="18105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193792" y="1828800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T-Shirts + Campaign Overalls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919472" y="2121408"/>
            <a:ext cx="182880" cy="1828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19472" y="21214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193792" y="2139696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 + Branded Handkerchieves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919472" y="2432304"/>
            <a:ext cx="182880" cy="1828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19472" y="24323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193792" y="2450592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Lessos + Political Scarves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919472" y="2743200"/>
            <a:ext cx="182880" cy="1828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19472" y="27432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193792" y="2761488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Rally Flags + Gazebos + Banners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919472" y="3054096"/>
            <a:ext cx="182880" cy="1828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19472" y="30540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193792" y="3072384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Political Class Relationships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919472" y="3364992"/>
            <a:ext cx="182880" cy="1828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19472" y="33649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193792" y="3383280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Acquisition Frontline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919472" y="3675888"/>
            <a:ext cx="182880" cy="1828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19472" y="36758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193792" y="3694176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QR-Code Ready Merchandise Design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919472" y="3986784"/>
            <a:ext cx="182880" cy="1828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919472" y="39867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193792" y="4005072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Merchandise Logistics &amp; Distribution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1371600" y="4663440"/>
            <a:ext cx="6400800" cy="2926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371600" y="46634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BRIDGE: Every Jambocom T-shirt, cap, and lesso carries a QR code linking to the AI WhatsApp Bot — turning physical merch into a digital engagement tool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 Technologies Limited  |  PMaaS 4.0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MEASURABLE ROI — WHAT PMaaS 4.0 DELIVERS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KPI Tracked Weekly. Transparent Reporting. Every Shilling Accountable.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115568"/>
            <a:ext cx="2011680" cy="1645920"/>
          </a:xfrm>
          <a:prstGeom prst="rect">
            <a:avLst/>
          </a:prstGeom>
          <a:solidFill>
            <a:srgbClr val="0D2E5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20700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+40%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20040" y="1883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Voter Registration Lift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0040" y="217627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target wards where full AI outreach deployed in registration phase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04872" y="1115568"/>
            <a:ext cx="2011680" cy="1645920"/>
          </a:xfrm>
          <a:prstGeom prst="rect">
            <a:avLst/>
          </a:prstGeom>
          <a:solidFill>
            <a:srgbClr val="0D2E5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04872" y="120700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&gt;65%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496312" y="1883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Answer Rate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496312" y="217627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AI voice outbound using candidate's cloned voice (vs 30% for generic IVR)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81144" y="1115568"/>
            <a:ext cx="2011680" cy="1645920"/>
          </a:xfrm>
          <a:prstGeom prst="rect">
            <a:avLst/>
          </a:prstGeom>
          <a:solidFill>
            <a:srgbClr val="0D2E5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81144" y="120700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&gt;78%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672584" y="1883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Resolution Rate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72584" y="217627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Voter queries resolved by AI without human escalation — reducing agent cost by 80%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757416" y="1115568"/>
            <a:ext cx="2011680" cy="1645920"/>
          </a:xfrm>
          <a:prstGeom prst="rect">
            <a:avLst/>
          </a:prstGeom>
          <a:solidFill>
            <a:srgbClr val="0D2E5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57416" y="120700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+15%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848856" y="1883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Improvement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848856" y="217627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shift in target wards within 30 days of campaign AI activation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28600" y="2944368"/>
            <a:ext cx="2011680" cy="1645920"/>
          </a:xfrm>
          <a:prstGeom prst="rect">
            <a:avLst/>
          </a:prstGeom>
          <a:solidFill>
            <a:srgbClr val="0D2E5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28600" y="303580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90min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320040" y="37124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Response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0040" y="400507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detection to Official Truth Response deployment across all channels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404872" y="2944368"/>
            <a:ext cx="2011680" cy="1645920"/>
          </a:xfrm>
          <a:prstGeom prst="rect">
            <a:avLst/>
          </a:prstGeom>
          <a:solidFill>
            <a:srgbClr val="0D2E5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404872" y="303580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500K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2496312" y="37124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Reach (Ent.)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496312" y="400507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voter contacts per day — at zero additional marginal cost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81144" y="2944368"/>
            <a:ext cx="2011680" cy="1645920"/>
          </a:xfrm>
          <a:prstGeom prst="rect">
            <a:avLst/>
          </a:prstGeom>
          <a:solidFill>
            <a:srgbClr val="0D2E5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81144" y="303580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&gt;75%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4672584" y="37124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Day Turnout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672584" y="400507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wards where AI pledge + Nyumba Kumi + SMS trifecta deployed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757416" y="2944368"/>
            <a:ext cx="2011680" cy="1645920"/>
          </a:xfrm>
          <a:prstGeom prst="rect">
            <a:avLst/>
          </a:prstGeom>
          <a:solidFill>
            <a:srgbClr val="0D2E5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757416" y="303580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Years</a:t>
            </a:r>
            <a:endParaRPr lang="en-US" sz="3600" dirty="0"/>
          </a:p>
        </p:txBody>
      </p:sp>
      <p:sp>
        <p:nvSpPr>
          <p:cNvPr id="35" name="Text 33"/>
          <p:cNvSpPr/>
          <p:nvPr/>
        </p:nvSpPr>
        <p:spPr>
          <a:xfrm>
            <a:off x="6848856" y="37124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Cycle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848856" y="400507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serves the full election cycle — not just the campaign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 Technologies Limited  |  PMaaS 4.0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6600"/>
          </a:solidFill>
          <a:ln w="12700">
            <a:solidFill>
              <a:srgbClr val="006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45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084064"/>
            <a:ext cx="9144000" cy="45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0" y="0"/>
            <a:ext cx="2651760" cy="4892040"/>
          </a:xfrm>
          <a:prstGeom prst="rect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0"/>
            <a:ext cx="365760" cy="4892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2004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PMaaS 4.0 WINS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896112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candidate who knows every voter's name, speaks to them in their own voice, meets them physically and digitally, and walks them to the polling station on Election Day — wins.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737360"/>
            <a:ext cx="219456" cy="219456"/>
          </a:xfrm>
          <a:prstGeom prst="lin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7373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76656" y="1755648"/>
            <a:ext cx="5358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voice clone calls every voter personally — no competitor has this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139696"/>
            <a:ext cx="219456" cy="219456"/>
          </a:xfrm>
          <a:prstGeom prst="lin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1396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76656" y="2157984"/>
            <a:ext cx="5358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voter database: 22M+ names, phones, polling stations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542032"/>
            <a:ext cx="219456" cy="219456"/>
          </a:xfrm>
          <a:prstGeom prst="lin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5420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76656" y="2560320"/>
            <a:ext cx="5358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answers every voter question 24/7 in candidate's voice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944368"/>
            <a:ext cx="219456" cy="219456"/>
          </a:xfrm>
          <a:prstGeom prst="lin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9443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76656" y="2962656"/>
            <a:ext cx="5358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network: Church → Chiefs → Nyumba Kumi — last-mile reach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346704"/>
            <a:ext cx="219456" cy="219456"/>
          </a:xfrm>
          <a:prstGeom prst="lin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3467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76656" y="3364992"/>
            <a:ext cx="5358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36-month cycle: Registration → Governance — not just campaign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749040"/>
            <a:ext cx="219456" cy="219456"/>
          </a:xfrm>
          <a:prstGeom prst="lin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7490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76656" y="3767328"/>
            <a:ext cx="5358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Jambocom QR merchandise bridges physical and digital campaign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4151376"/>
            <a:ext cx="219456" cy="219456"/>
          </a:xfrm>
          <a:prstGeom prst="lin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1513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76656" y="4169664"/>
            <a:ext cx="5358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legal: DPA 2019, IEBC, NCIC, Kenya AI Strategy compliance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537960" y="4114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START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NOW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6537960" y="1417320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2027 cycle has already begun. Every month of delay is competitive advantage lost.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73952" y="2286000"/>
            <a:ext cx="2487168" cy="457200"/>
          </a:xfrm>
          <a:prstGeom prst="rect">
            <a:avLst/>
          </a:prstGeom>
          <a:solidFill>
            <a:srgbClr val="C9A84C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73952" y="22860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3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 IN TOUCH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73952" y="2834640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 Mukiti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CEO, i3 Technologies Limited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73952" y="3364992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philip@i3technologies.co.ke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73952" y="3602736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Waumini House, Westlands, Nairobi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473952" y="3877056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D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Partnership with</a:t>
            </a:r>
            <a:endParaRPr lang="en-US" sz="8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D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Jambocom General Merchants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473952" y="4315968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Silver Business Partner | CEID: 7SQ30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1886</Words>
  <Application>Microsoft Office PowerPoint</Application>
  <PresentationFormat>On-screen Show (16:9)</PresentationFormat>
  <Paragraphs>347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PMaaS 4.0 — Kenya 2027 Agentic AI Political Cycle</dc:title>
  <dc:subject>PptxGenJS Presentation</dc:subject>
  <dc:creator>PptxGenJS</dc:creator>
  <cp:lastModifiedBy>Philip Mukiti</cp:lastModifiedBy>
  <cp:revision>2</cp:revision>
  <dcterms:created xsi:type="dcterms:W3CDTF">2026-04-14T08:31:08Z</dcterms:created>
  <dcterms:modified xsi:type="dcterms:W3CDTF">2026-07-23T11:26:45Z</dcterms:modified>
</cp:coreProperties>
</file>