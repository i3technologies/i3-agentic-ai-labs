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00A8C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6217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IBM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411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DC8E8"/>
                </a:solidFill>
              </a:rPr>
              <a:t>IBM watsonx Orchestrate AI Engineer v1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8686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Exam C1000-207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4572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Complete Study Guide &amp; CCA-F Crosswalk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C8E8"/>
                </a:solidFill>
              </a:rPr>
              <a:t>7 Exam Sections  ·  Associate Certification  ·  Pearson VUE Delivery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1A3D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</a:rPr>
              <a:t>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576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Exam Sections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315468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1A3D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</a:rPr>
              <a:t>20%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46888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Heaviest Section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15468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1A3D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</a:rPr>
              <a:t>28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7200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Study Areas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315468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1A3D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</a:rPr>
              <a:t>6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67512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CCA-F Overlaps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Prepared by i3 Technologies Limited  ·  IBM Silver Partner, Nairobi Kenya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B5E"/>
                </a:solidFill>
              </a:rPr>
              <a:t>Exam Blueprint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Section weights and key task areas at a glance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11480" cy="384048"/>
          </a:xfrm>
          <a:prstGeom prst="rect">
            <a:avLst/>
          </a:prstGeom>
          <a:solidFill>
            <a:srgbClr val="0D2B5E"/>
          </a:solidFill>
          <a:ln>
            <a:solidFill>
              <a:srgbClr val="0D2B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1338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Platform Architecture &amp; Core Concepts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60520" y="1170432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E2EAF4"/>
          </a:solidFill>
          <a:ln/>
        </p:spPr>
      </p:sp>
      <p:sp>
        <p:nvSpPr>
          <p:cNvPr id="8" name="Shape 6"/>
          <p:cNvSpPr/>
          <p:nvPr/>
        </p:nvSpPr>
        <p:spPr>
          <a:xfrm>
            <a:off x="4160520" y="1170432"/>
            <a:ext cx="3268980" cy="256032"/>
          </a:xfrm>
          <a:prstGeom prst="roundRect">
            <a:avLst>
              <a:gd name="adj" fmla="val 21429"/>
            </a:avLst>
          </a:prstGeom>
          <a:solidFill>
            <a:srgbClr val="1A3D7A"/>
          </a:solidFill>
          <a:ln/>
        </p:spPr>
      </p:sp>
      <p:sp>
        <p:nvSpPr>
          <p:cNvPr id="9" name="Text 7"/>
          <p:cNvSpPr/>
          <p:nvPr/>
        </p:nvSpPr>
        <p:spPr>
          <a:xfrm>
            <a:off x="7502652" y="114300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D7A"/>
                </a:solidFill>
              </a:rPr>
              <a:t>13%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627632"/>
            <a:ext cx="411480" cy="384048"/>
          </a:xfrm>
          <a:prstGeom prst="rect">
            <a:avLst/>
          </a:prstGeom>
          <a:solidFill>
            <a:srgbClr val="0D2B5E"/>
          </a:solidFill>
          <a:ln>
            <a:solidFill>
              <a:srgbClr val="0D2B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6642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Agent &amp; Assistant Integration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60520" y="1700784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E2EA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60520" y="1700784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9262872" y="167335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20%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157984"/>
            <a:ext cx="411480" cy="384048"/>
          </a:xfrm>
          <a:prstGeom prst="rect">
            <a:avLst/>
          </a:prstGeom>
          <a:solidFill>
            <a:srgbClr val="0D2B5E"/>
          </a:solidFill>
          <a:ln>
            <a:solidFill>
              <a:srgbClr val="0D2B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194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Workflow &amp; Orchestration Design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60520" y="2231136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E2EAF4"/>
          </a:solidFill>
          <a:ln/>
        </p:spPr>
      </p:sp>
      <p:sp>
        <p:nvSpPr>
          <p:cNvPr id="18" name="Shape 16"/>
          <p:cNvSpPr/>
          <p:nvPr/>
        </p:nvSpPr>
        <p:spPr>
          <a:xfrm>
            <a:off x="4160520" y="2231136"/>
            <a:ext cx="3520440" cy="256032"/>
          </a:xfrm>
          <a:prstGeom prst="roundRect">
            <a:avLst>
              <a:gd name="adj" fmla="val 21429"/>
            </a:avLst>
          </a:prstGeom>
          <a:solidFill>
            <a:srgbClr val="00A8CC"/>
          </a:solidFill>
          <a:ln/>
        </p:spPr>
      </p:sp>
      <p:sp>
        <p:nvSpPr>
          <p:cNvPr id="19" name="Text 17"/>
          <p:cNvSpPr/>
          <p:nvPr/>
        </p:nvSpPr>
        <p:spPr>
          <a:xfrm>
            <a:off x="7754112" y="220370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688336"/>
            <a:ext cx="411480" cy="384048"/>
          </a:xfrm>
          <a:prstGeom prst="rect">
            <a:avLst/>
          </a:prstGeom>
          <a:solidFill>
            <a:srgbClr val="0D2B5E"/>
          </a:solidFill>
          <a:ln>
            <a:solidFill>
              <a:srgbClr val="0D2B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7249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Agent Development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60520" y="2761488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E2EAF4"/>
          </a:solidFill>
          <a:ln/>
        </p:spPr>
      </p:sp>
      <p:sp>
        <p:nvSpPr>
          <p:cNvPr id="23" name="Shape 21"/>
          <p:cNvSpPr/>
          <p:nvPr/>
        </p:nvSpPr>
        <p:spPr>
          <a:xfrm>
            <a:off x="4160520" y="2761488"/>
            <a:ext cx="452628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8759952" y="2734056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18%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218688"/>
            <a:ext cx="411480" cy="384048"/>
          </a:xfrm>
          <a:prstGeom prst="rect">
            <a:avLst/>
          </a:prstGeom>
          <a:solidFill>
            <a:srgbClr val="0D2B5E"/>
          </a:solidFill>
          <a:ln>
            <a:solidFill>
              <a:srgbClr val="0D2B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2552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Model Management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60520" y="3291840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E2EAF4"/>
          </a:solidFill>
          <a:ln/>
        </p:spPr>
      </p:sp>
      <p:sp>
        <p:nvSpPr>
          <p:cNvPr id="28" name="Shape 26"/>
          <p:cNvSpPr/>
          <p:nvPr/>
        </p:nvSpPr>
        <p:spPr>
          <a:xfrm>
            <a:off x="4160520" y="3291840"/>
            <a:ext cx="3520440" cy="256032"/>
          </a:xfrm>
          <a:prstGeom prst="roundRect">
            <a:avLst>
              <a:gd name="adj" fmla="val 21429"/>
            </a:avLst>
          </a:prstGeom>
          <a:solidFill>
            <a:srgbClr val="00A8CC"/>
          </a:solidFill>
          <a:ln/>
        </p:spPr>
      </p:sp>
      <p:sp>
        <p:nvSpPr>
          <p:cNvPr id="29" name="Text 27"/>
          <p:cNvSpPr/>
          <p:nvPr/>
        </p:nvSpPr>
        <p:spPr>
          <a:xfrm>
            <a:off x="7754112" y="326440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14%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3749040"/>
            <a:ext cx="411480" cy="384048"/>
          </a:xfrm>
          <a:prstGeom prst="rect">
            <a:avLst/>
          </a:prstGeom>
          <a:solidFill>
            <a:srgbClr val="0D2B5E"/>
          </a:solidFill>
          <a:ln>
            <a:solidFill>
              <a:srgbClr val="0D2B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37856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Security, Compliance &amp; Observability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60520" y="3822192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E2EAF4"/>
          </a:solidFill>
          <a:ln/>
        </p:spPr>
      </p:sp>
      <p:sp>
        <p:nvSpPr>
          <p:cNvPr id="33" name="Shape 31"/>
          <p:cNvSpPr/>
          <p:nvPr/>
        </p:nvSpPr>
        <p:spPr>
          <a:xfrm>
            <a:off x="4160520" y="3822192"/>
            <a:ext cx="2766060" cy="256032"/>
          </a:xfrm>
          <a:prstGeom prst="roundRect">
            <a:avLst>
              <a:gd name="adj" fmla="val 21429"/>
            </a:avLst>
          </a:prstGeom>
          <a:solidFill>
            <a:srgbClr val="1A3D7A"/>
          </a:solidFill>
          <a:ln/>
        </p:spPr>
      </p:sp>
      <p:sp>
        <p:nvSpPr>
          <p:cNvPr id="34" name="Text 32"/>
          <p:cNvSpPr/>
          <p:nvPr/>
        </p:nvSpPr>
        <p:spPr>
          <a:xfrm>
            <a:off x="6999732" y="379476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D7A"/>
                </a:solidFill>
              </a:rPr>
              <a:t>11%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279392"/>
            <a:ext cx="411480" cy="384048"/>
          </a:xfrm>
          <a:prstGeom prst="rect">
            <a:avLst/>
          </a:prstGeom>
          <a:solidFill>
            <a:srgbClr val="0D2B5E"/>
          </a:solidFill>
          <a:ln>
            <a:solidFill>
              <a:srgbClr val="0D2B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680" y="43159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Deployment, Scaling &amp; Resiliency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160520" y="4352544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E2EAF4"/>
          </a:solidFill>
          <a:ln/>
        </p:spPr>
      </p:sp>
      <p:sp>
        <p:nvSpPr>
          <p:cNvPr id="38" name="Shape 36"/>
          <p:cNvSpPr/>
          <p:nvPr/>
        </p:nvSpPr>
        <p:spPr>
          <a:xfrm>
            <a:off x="4160520" y="4352544"/>
            <a:ext cx="2514600" cy="256032"/>
          </a:xfrm>
          <a:prstGeom prst="roundRect">
            <a:avLst>
              <a:gd name="adj" fmla="val 21429"/>
            </a:avLst>
          </a:prstGeom>
          <a:solidFill>
            <a:srgbClr val="1A3D7A"/>
          </a:solidFill>
          <a:ln/>
        </p:spPr>
      </p:sp>
      <p:sp>
        <p:nvSpPr>
          <p:cNvPr id="39" name="Text 37"/>
          <p:cNvSpPr/>
          <p:nvPr/>
        </p:nvSpPr>
        <p:spPr>
          <a:xfrm>
            <a:off x="6748272" y="432511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D7A"/>
                </a:solidFill>
              </a:rPr>
              <a:t>10%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77316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Highest weight sections: Agent &amp; Assistant Integration (20%) and Agent Development (18%) — prioritise these.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2B5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B5E"/>
                </a:solidFill>
              </a:rPr>
              <a:t>Sections 1 &amp; 2 — Platform Architecture · Agent Integration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1148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31520"/>
            <a:ext cx="4114800" cy="502920"/>
          </a:xfrm>
          <a:prstGeom prst="roundRect">
            <a:avLst>
              <a:gd name="adj" fmla="val 21818"/>
            </a:avLst>
          </a:prstGeom>
          <a:solidFill>
            <a:srgbClr val="0D2B5E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22860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6809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Section 1 · 13%   Platform Architecture &amp; Core Concepts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Core capabilities: Environments (Dev/Test/Prod), Agents &amp; Assistants, Tools &amp; Connections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Agentic Workflows, Knowledge Bases, ADK, Catalog of Reusable Assets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1396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AI Gateway &amp; model policies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560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Governance, scalability, and security in the platform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9809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Built-in vs ADK-based components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401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Scoping WXO for a business use case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8221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Process characteristics suitable for automation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2428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Analyzing business processes: triggers, actors, data, outcomes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731520"/>
            <a:ext cx="41148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731520"/>
            <a:ext cx="4114800" cy="502920"/>
          </a:xfrm>
          <a:prstGeom prst="roundRect">
            <a:avLst>
              <a:gd name="adj" fmla="val 21818"/>
            </a:avLst>
          </a:prstGeom>
          <a:solidFill>
            <a:srgbClr val="F5A623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005840"/>
            <a:ext cx="4114800" cy="228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76809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B5E"/>
                </a:solidFill>
              </a:rPr>
              <a:t>Section 2 · 20%   Agent &amp; Assistant Integration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12984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Define &amp; distinguish Assistants vs Agents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17190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Task 2.1: Design &amp; implement integrations in WXO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21396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Task 2.2: Configure external A2A agents using ADK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2560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AI assistants vs Agents vs Collaborator vs External agents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29809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Task 2.3: Multi-Agent Orchestration — Agent Catalog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3401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Agents from watsonx.ai, third-party, WXO assistants as Collaborators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38221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Task 2.4: Langflow as visual orchestration — configure &amp; integrate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42428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Supported Langflow components &amp; integration capabilities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2B5E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B5E"/>
                </a:solidFill>
              </a:rPr>
              <a:t>Sections 3 &amp; 4 — Workflow Design · Agent Development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1148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31520"/>
            <a:ext cx="4114800" cy="502920"/>
          </a:xfrm>
          <a:prstGeom prst="roundRect">
            <a:avLst>
              <a:gd name="adj" fmla="val 21818"/>
            </a:avLst>
          </a:prstGeom>
          <a:solidFill>
            <a:srgbClr val="00A8CC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2286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6809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Section 3 · 14%   Workflow &amp; Orchestration Design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3.1 Agentic Workflows: user activities, gen prompts, code blocks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Flow outline: Trigger → Actions → Decision Points → Outcomes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1396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3.2 MCP Tools: Model Context Protocol role in AI agent architecture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560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Register/validate MCP tools; import using ADK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9809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ContextForge MCP Gateway — expose and consume tools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401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3.3 Pre-built Domain Agents &amp; Agent Catalog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8221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Configure secure connections for enterprise applications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2428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Multi-agent orchestration: HR &amp; Sales prospecting workflows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731520"/>
            <a:ext cx="41148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731520"/>
            <a:ext cx="4114800" cy="502920"/>
          </a:xfrm>
          <a:prstGeom prst="roundRect">
            <a:avLst>
              <a:gd name="adj" fmla="val 21818"/>
            </a:avLst>
          </a:prstGeom>
          <a:solidFill>
            <a:srgbClr val="0D2B5E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005840"/>
            <a:ext cx="4114800" cy="22860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76809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Section 4 · 18%   Agent Development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12984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4.1 Design: purpose, scope, tools, knowledge bases, logic flows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17190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UX &amp; conversational design; governance &amp; ethics in agent design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21396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Break workflow into steps: agent vs tool vs connection vs branch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2560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4.2 Build: structural elements — tools, connections, metadata, KBs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29809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ADK: extending platform; when to use ADK vs catalog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3401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4.3 Test: evaluation framework, user stories, metrics, observability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38221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4.4 Agentic Prompting: techniques, evaluation, security risks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42428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4.5 Connect agents to channels: config, security, validation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2B5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B5E"/>
                </a:solidFill>
              </a:rPr>
              <a:t>Sections 5, 6 &amp; 7 — Model Management · Security · Deployment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2834640" cy="42519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13232"/>
            <a:ext cx="2834640" cy="502920"/>
          </a:xfrm>
          <a:prstGeom prst="roundRect">
            <a:avLst>
              <a:gd name="adj" fmla="val 21818"/>
            </a:avLst>
          </a:prstGeom>
          <a:solidFill>
            <a:srgbClr val="00A8CC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87552"/>
            <a:ext cx="2834640" cy="2286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74980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Section 5 · Model Management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5.1 Orchestrate Copilot for VS Code — install, configure, commands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85623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5.2 LLM selection: task type, cost/accuracy/latency, third-party models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45059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5.3 AI Gateway: multi-model &amp; multi-provider orchestration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04495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Deployment models; use cases supported by AI Gateway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363931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5.4 Model Policies: types, create/edit/remove, guardrails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23367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Failover logic &amp; governance dashboards → model policies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713232"/>
            <a:ext cx="2834640" cy="42519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713232"/>
            <a:ext cx="2834640" cy="502920"/>
          </a:xfrm>
          <a:prstGeom prst="roundRect">
            <a:avLst>
              <a:gd name="adj" fmla="val 21818"/>
            </a:avLst>
          </a:prstGeom>
          <a:solidFill>
            <a:srgbClr val="C0392B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6120" y="987552"/>
            <a:ext cx="2834640" cy="228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3319272" y="74980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Section 6 · Security &amp; Observability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126187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6.1 Authentication mechanisms, RBAC, audit logs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185623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Secure connections for APIs &amp; gateways; security checklist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45059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6.2 Audit logs, external logging, agent analytics dashboards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304495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External observability tools; Langfuse for LLM monitoring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363931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6.3 Governance dashboards, policy controls, regulatory frameworks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423367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Security &amp; Privacy by Design (SPbD) configuration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713232"/>
            <a:ext cx="2834640" cy="42519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713232"/>
            <a:ext cx="2834640" cy="502920"/>
          </a:xfrm>
          <a:prstGeom prst="roundRect">
            <a:avLst>
              <a:gd name="adj" fmla="val 21818"/>
            </a:avLst>
          </a:prstGeom>
          <a:solidFill>
            <a:srgbClr val="1A3D7A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987552"/>
            <a:ext cx="2834640" cy="228600"/>
          </a:xfrm>
          <a:prstGeom prst="rect">
            <a:avLst/>
          </a:prstGeom>
          <a:solidFill>
            <a:srgbClr val="1A3D7A"/>
          </a:solidFill>
          <a:ln/>
        </p:spPr>
      </p:sp>
      <p:sp>
        <p:nvSpPr>
          <p:cNvPr id="27" name="Text 25"/>
          <p:cNvSpPr/>
          <p:nvPr/>
        </p:nvSpPr>
        <p:spPr>
          <a:xfrm>
            <a:off x="6291072" y="74980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Section 7 · Deployment &amp; Scaling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09360" y="126187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7.1 Environments: naming, regions, isolation (Dev/Test/Prod)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185623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Monitor health; backup/restore/migrate environment configs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245059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7.2 Knowledge Bases: ingest docs, vector embeddings, indexing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304495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Optimize retrieval; versioning &amp; security / access control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363931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7.3 Manage agents, assistants, gateways; versioning &amp; A/B testing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423367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7.4 CI/CD: pipeline stages, Git, automated testing, DevOps tools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2B5E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6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6A3E"/>
                </a:solidFill>
              </a:rPr>
              <a:t>CCA-F vs C1000-207 — Certification Crosswalk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The Claude Certified Architect – Foundations (CCA-F) and IBM C1000-207 share significant conceptual ground in 6 key areas.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52144"/>
            <a:ext cx="777240" cy="274320"/>
          </a:xfrm>
          <a:prstGeom prst="roundRect">
            <a:avLst>
              <a:gd name="adj" fmla="val 26667"/>
            </a:avLst>
          </a:prstGeom>
          <a:solidFill>
            <a:srgbClr val="1D6A3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521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Strong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0432" y="1124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AI Agent Architecture &amp; Orchestration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70432" y="138988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C1000-207: S1 + S2: AI agents, multi-agent orchestration, agent catalog, external/collaborator agents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480560" y="11704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D6A3E"/>
                </a:solidFill>
              </a:rPr>
              <a:t>CCA-F: Agentic systems: tool-use agents, orchestration patterns, agent loops, RAG agents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746504"/>
            <a:ext cx="8595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19656"/>
            <a:ext cx="777240" cy="274320"/>
          </a:xfrm>
          <a:prstGeom prst="roundRect">
            <a:avLst>
              <a:gd name="adj" fmla="val 26667"/>
            </a:avLst>
          </a:prstGeom>
          <a:solidFill>
            <a:srgbClr val="1D6A3E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8196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Strong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70432" y="1792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Prompting &amp; Prompt Engineering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70432" y="205740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C1000-207: S4.4: Agentic prompting techniques, evaluation, security risks (prompt injection)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80560" y="18379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D6A3E"/>
                </a:solidFill>
              </a:rPr>
              <a:t>CCA-F: Core CCA-F domain: prompt patterns, chain-of-thought, few-shot, system prompts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414016"/>
            <a:ext cx="8595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87168"/>
            <a:ext cx="777240" cy="274320"/>
          </a:xfrm>
          <a:prstGeom prst="roundRect">
            <a:avLst>
              <a:gd name="adj" fmla="val 26667"/>
            </a:avLst>
          </a:prstGeom>
          <a:solidFill>
            <a:srgbClr val="00A8C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4871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Moderate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70432" y="2459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LLM Selection &amp; Model Trade-offs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70432" y="272491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C1000-207: S5.2: Task-type fit, cost/accuracy/latency, input modalities, third-party models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80560" y="25054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D6A3E"/>
                </a:solidFill>
              </a:rPr>
              <a:t>CCA-F: Model selection criteria, capability tiers, context window management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081528"/>
            <a:ext cx="8595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154680"/>
            <a:ext cx="777240" cy="274320"/>
          </a:xfrm>
          <a:prstGeom prst="roundRect">
            <a:avLst>
              <a:gd name="adj" fmla="val 26667"/>
            </a:avLst>
          </a:prstGeom>
          <a:solidFill>
            <a:srgbClr val="00A8CC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1546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Moderate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70432" y="3127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Security, Governance &amp; Responsible AI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70432" y="339242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C1000-207: S6: RBAC, audit, compliance, SPbD; S4.4: prompt injection mitigations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480560" y="31729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D6A3E"/>
                </a:solidFill>
              </a:rPr>
              <a:t>CCA-F: AI safety principles, hallucination risk, bias, responsible deployment, data privacy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749040"/>
            <a:ext cx="8595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822192"/>
            <a:ext cx="777240" cy="274320"/>
          </a:xfrm>
          <a:prstGeom prst="roundRect">
            <a:avLst>
              <a:gd name="adj" fmla="val 26667"/>
            </a:avLst>
          </a:prstGeom>
          <a:solidFill>
            <a:srgbClr val="1D6A3E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822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Strong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70432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RAG / Knowledge Bases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70432" y="405993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C1000-207: S1.4.5 + S7.2: knowledge base creation, vector embeddings, chunking, retrieval optimisation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480560" y="3840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D6A3E"/>
                </a:solidFill>
              </a:rPr>
              <a:t>CCA-F: RAG architecture, embedding models, retrieval strategies, grounding LLMs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416552"/>
            <a:ext cx="8595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4489704"/>
            <a:ext cx="777240" cy="274320"/>
          </a:xfrm>
          <a:prstGeom prst="roundRect">
            <a:avLst>
              <a:gd name="adj" fmla="val 26667"/>
            </a:avLst>
          </a:prstGeom>
          <a:solidFill>
            <a:srgbClr val="00A8CC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44897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Moderate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70432" y="4462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API Integration &amp; Tool Use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70432" y="472744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C1000-207: S3.2: MCP tools, ADK, ContextForge Gateway; S2: external A2A agents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480560" y="45079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D6A3E"/>
                </a:solidFill>
              </a:rPr>
              <a:t>CCA-F: Function calling, tool definitions, structured outputs, API orchestration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D6A3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6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6A3E"/>
                </a:solidFill>
              </a:rPr>
              <a:t>Detailed Topic Alignment — C1000-207 ↔ CCA-F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1965960" cy="347472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658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Topic Area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331720" y="658368"/>
            <a:ext cx="2514600" cy="347472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658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C1000-207 Task(s)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37760" y="658368"/>
            <a:ext cx="2880360" cy="347472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6583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CCA-F Coverage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909560" y="658368"/>
            <a:ext cx="1234440" cy="347472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6583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Overlap Level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051560"/>
            <a:ext cx="19659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06984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Agentic Prompting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31720" y="1051560"/>
            <a:ext cx="2514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106984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4.4 — prompting techniques, evaluation, injection controls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37760" y="1051560"/>
            <a:ext cx="28803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069848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Core pillar: prompt patterns, sys prompts, few-shot, CoT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909560" y="1051560"/>
            <a:ext cx="123444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1069848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D6A3E"/>
                </a:solidFill>
              </a:rPr>
              <a:t>🟢 High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1527048"/>
            <a:ext cx="1965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1545336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Multi-Agent Orchestration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31720" y="1527048"/>
            <a:ext cx="2514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377440" y="1545336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2.3 — MAO, agent catalog, collaborator agents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37760" y="1527048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545336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Agentic patterns: orchestrator/subagent, tool-use loops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909560" y="1527048"/>
            <a:ext cx="1234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1545336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D6A3E"/>
                </a:solidFill>
              </a:rPr>
              <a:t>🟢 High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2002536"/>
            <a:ext cx="19659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020824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RAG &amp; Knowledge Bases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31720" y="2002536"/>
            <a:ext cx="2514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2377440" y="2020824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1.4.5, 7.2 — KB config, vector DB, chunking, retrieval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37760" y="2002536"/>
            <a:ext cx="28803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020824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RAG architecture, embedding, grounding, context injection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909560" y="2002536"/>
            <a:ext cx="123444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7955280" y="2020824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D6A3E"/>
                </a:solidFill>
              </a:rPr>
              <a:t>🟢 High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2478024"/>
            <a:ext cx="1965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2496312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LLM Model Selection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331720" y="2478024"/>
            <a:ext cx="2514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377440" y="2496312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5.2 — fit, cost, latency, modalities, 3rd-party models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37760" y="2478024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2496312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Model tiers, capability trade-offs, context windows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909560" y="2478024"/>
            <a:ext cx="1234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496312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D6A3E"/>
                </a:solidFill>
              </a:rPr>
              <a:t>🟡 Medium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2953512"/>
            <a:ext cx="19659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" y="297180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Security &amp; Guardrails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331720" y="2953512"/>
            <a:ext cx="2514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Text 45"/>
          <p:cNvSpPr/>
          <p:nvPr/>
        </p:nvSpPr>
        <p:spPr>
          <a:xfrm>
            <a:off x="2377440" y="2971800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6.1–6.3, 4.4 — RBAC, audit, SPbD, prompt injection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937760" y="2953512"/>
            <a:ext cx="28803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4983480" y="2971800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Responsible AI, safety, bias mitigation, data privacy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909560" y="2953512"/>
            <a:ext cx="123444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1" name="Text 49"/>
          <p:cNvSpPr/>
          <p:nvPr/>
        </p:nvSpPr>
        <p:spPr>
          <a:xfrm>
            <a:off x="7955280" y="297180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D6A3E"/>
                </a:solidFill>
              </a:rPr>
              <a:t>🟡 Medium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" y="3429000"/>
            <a:ext cx="1965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320040" y="344728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API / Tool Integration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331720" y="3429000"/>
            <a:ext cx="2514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2377440" y="344728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3.2 MCP, 2.2 ADK, external A2A agents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937760" y="3429000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983480" y="3447288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Function calling, tool definitions, structured outputs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909560" y="3429000"/>
            <a:ext cx="1234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7955280" y="3447288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D6A3E"/>
                </a:solidFill>
              </a:rPr>
              <a:t>🟡 Medium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74320" y="3904488"/>
            <a:ext cx="19659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1" name="Text 59"/>
          <p:cNvSpPr/>
          <p:nvPr/>
        </p:nvSpPr>
        <p:spPr>
          <a:xfrm>
            <a:off x="320040" y="3922776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CI/CD &amp; DevOps for AI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331720" y="3904488"/>
            <a:ext cx="2514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3" name="Text 61"/>
          <p:cNvSpPr/>
          <p:nvPr/>
        </p:nvSpPr>
        <p:spPr>
          <a:xfrm>
            <a:off x="2377440" y="3922776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7.4 — pipeline architecture, Git, automated testing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937760" y="3904488"/>
            <a:ext cx="28803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5" name="Text 63"/>
          <p:cNvSpPr/>
          <p:nvPr/>
        </p:nvSpPr>
        <p:spPr>
          <a:xfrm>
            <a:off x="4983480" y="3922776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Deployment patterns — lighter coverage in CCA-F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909560" y="3904488"/>
            <a:ext cx="123444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7" name="Text 65"/>
          <p:cNvSpPr/>
          <p:nvPr/>
        </p:nvSpPr>
        <p:spPr>
          <a:xfrm>
            <a:off x="7955280" y="3922776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D6A3E"/>
                </a:solidFill>
              </a:rPr>
              <a:t>🟠 Partial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74320" y="4379976"/>
            <a:ext cx="1965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320040" y="4398264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Governance &amp; Compliance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331720" y="4379976"/>
            <a:ext cx="2514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2377440" y="4398264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6.3 — dashboards, policy enforcement, lifecycle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937760" y="4379976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4983480" y="4398264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AI governance principles, ethics frameworks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909560" y="4379976"/>
            <a:ext cx="1234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>
            <a:off x="7955280" y="4398264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D6A3E"/>
                </a:solidFill>
              </a:rPr>
              <a:t>🟡 Medium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🟢 High = Directly tested in both  ·  🟡 Medium = Conceptually aligned  ·  🟠 Partial = One cert covers more deeply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D6A3E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Recommended Study Path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DC8E8"/>
                </a:solidFill>
              </a:rPr>
              <a:t>Combining C1000-207 exam prep with CCA-F knowledge for maximum efficiency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1A3D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00A8C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515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" y="1097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Foundation (Week 1–2)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435608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E2EAF4"/>
                </a:solidFill>
              </a:rPr>
              <a:t>Start with S1 (Platform Architecture) — WXO fundamentals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892808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E2EAF4"/>
                </a:solidFill>
              </a:rPr>
              <a:t>Study CCA-F Prompt Engineering in parallel — directly maps to S4.4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350008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E2EAF4"/>
                </a:solidFill>
              </a:rPr>
              <a:t>Learn RAG / Knowledge Bases (S7.2) alongside CCA-F RAG concepts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1A3D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5156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0515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13832" y="1097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Core Development (Week 3–4)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18888" y="1435608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E2EAF4"/>
                </a:solidFill>
              </a:rPr>
              <a:t>Deep-dive S2 (20%) and S4 (18%) — highest exam weight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18888" y="1892808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E2EAF4"/>
                </a:solidFill>
              </a:rPr>
              <a:t>Build agents in WXO hands-on using ADK &amp; watsonx.ai Studio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18888" y="2350008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E2EAF4"/>
                </a:solidFill>
              </a:rPr>
              <a:t>Practice multi-agent orchestration patterns (maps to CCA-F agentic patterns)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1A3D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1752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017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" y="3063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Advanced &amp; Security (Week 5–6)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3401568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E2EAF4"/>
                </a:solidFill>
              </a:rPr>
              <a:t>Complete S3 (MCP, Langflow, Agentic Workflows) with hands-on labs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" y="3858768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E2EAF4"/>
                </a:solidFill>
              </a:rPr>
              <a:t>Work through S5 (Model Policies, AI Gateway) and S6 (Security)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" y="4315968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E2EAF4"/>
                </a:solidFill>
              </a:rPr>
              <a:t>Review CCA-F governance principles alongside S6.3 for reinforcement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0175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1A3D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01752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D6A3E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3017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13832" y="3063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Deployment &amp; Assessment (Week 7–8)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18888" y="3401568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E2EAF4"/>
                </a:solidFill>
              </a:rPr>
              <a:t>Complete S7 CI/CD, Knowledge Base management, and environments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18888" y="3858768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E2EAF4"/>
                </a:solidFill>
              </a:rPr>
              <a:t>Take IBM assessment exam ($30) — review weak sections by percentage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18888" y="4315968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E2EAF4"/>
                </a:solidFill>
              </a:rPr>
              <a:t>Complete sample test, then schedule Pearson VUE exam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2B5E"/>
                </a:solidFill>
              </a:rPr>
              <a:t>Key Terms &amp; Concepts Reference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062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D2B5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229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ADK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70432" y="813816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Agent Development Kit — SDK for creating custom agents, tools &amp; integrations outside built-in catalog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42062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53312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D2B5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3533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 Gateway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70432" y="1344168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WXO component for multi-model/multi-provider routing, rate limiting, failover &amp; model policies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810512"/>
            <a:ext cx="42062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83664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D2B5E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8366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Agentic Workflow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70432" y="187452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Structured automation flow: Trigger → Actions → Decisions → Outcomes, defined in WXO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340864"/>
            <a:ext cx="42062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14016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D2B5E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4140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Collaborator Agent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70432" y="2404872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An AI assistant promoted to act as a sub-agent within a multi-agent orchestration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871216"/>
            <a:ext cx="42062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4436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D2B5E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9443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ContextForge MCP GW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70432" y="2935224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Gateway for exposing and consuming tools via Model Context Protocol in WXO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401568"/>
            <a:ext cx="42062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47472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D2B5E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474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External A2A Agent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70432" y="3465576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Agent-to-Agent integration — third-party agent connected via ADK &amp; standard protocols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749808"/>
            <a:ext cx="42062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82296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D2B5E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8229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Langflow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96712" y="813816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Visual, low-code orchestration tool integrated with WXO for building AI pipelines graphically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00600" y="1280160"/>
            <a:ext cx="42062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1353312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D2B5E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13533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MCP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96712" y="1344168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Model Context Protocol — standard for registering, discovering, and consuming tools by AI agents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0600" y="1810512"/>
            <a:ext cx="42062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1883664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D2B5E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188366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 Policy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96712" y="187452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Governance rule set controlling LLM selection, failover, guardrails, and usage limits in WXO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00600" y="2340864"/>
            <a:ext cx="42062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2414016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D2B5E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24140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RAG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696712" y="2404872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Retrieval-Augmented Generation — grounding LLM responses with knowledge base / vector DB retrieval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00600" y="2871216"/>
            <a:ext cx="42062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46320" y="294436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D2B5E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29443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RBAC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696712" y="2935224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Role-Based Access Control — governs user permissions and task execution across WXO services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00600" y="3401568"/>
            <a:ext cx="42062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46320" y="347472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D2B5E"/>
          </a:solidFill>
          <a:ln/>
        </p:spPr>
      </p:sp>
      <p:sp>
        <p:nvSpPr>
          <p:cNvPr id="50" name="Text 48"/>
          <p:cNvSpPr/>
          <p:nvPr/>
        </p:nvSpPr>
        <p:spPr>
          <a:xfrm>
            <a:off x="4846320" y="3474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Software Hub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696712" y="3465576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IBM platform tightly coupled with WXO; provides runtime, deployment &amp; lifecycle management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2B5E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Next Steps to Certification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1A3D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7840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78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5E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99669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IBM Assessment Exam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43560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Take the C1000-207 assessment at $30 per attempt. Review section-level performance.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DC8E8"/>
                </a:solidFill>
              </a:rPr>
              <a:t>IBM Training Portal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1A3D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7840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0A8CC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978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5E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99669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Hands-on Labs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8888" y="143560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Use WXO trial environment. Build agents, configure MCP tools, test knowledge bases.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8888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DC8E8"/>
                </a:solidFill>
              </a:rPr>
              <a:t>developer.watson-orchestrate.ibm.com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1A3D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986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0A8C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5E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291693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CCA-F Study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335584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Complete Anthropic's Claude Certified Architect study materials — high overlap with S2, S4 &amp; S6.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4206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DC8E8"/>
                </a:solidFill>
              </a:rPr>
              <a:t>Anthropic Learning Portal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278892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1A3D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8986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0A8CC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5E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03520" y="291693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Schedule Pearson VUE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18888" y="335584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Once assessment passed, book the proctored exam at Pearson VUE for IBM certification.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4206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DC8E8"/>
                </a:solidFill>
              </a:rPr>
              <a:t>home.pearsonvue.com/ibm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i3 Technologies Limited  ·  IBM Silver Partner  ·  Westlands, Nairobi, Kenya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C1000-207 &amp; CCA-F Study Guide</dc:title>
  <dc:subject>PptxGenJS Presentation</dc:subject>
  <dc:creator>i3 Technologies Limited</dc:creator>
  <cp:lastModifiedBy>i3 Technologies Limited</cp:lastModifiedBy>
  <cp:revision>1</cp:revision>
  <dcterms:created xsi:type="dcterms:W3CDTF">2026-06-10T19:28:53Z</dcterms:created>
  <dcterms:modified xsi:type="dcterms:W3CDTF">2026-06-10T19:28:53Z</dcterms:modified>
</cp:coreProperties>
</file>