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054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645920"/>
            <a:ext cx="4754880" cy="4754880"/>
          </a:xfrm>
          <a:prstGeom prst="ellipse">
            <a:avLst/>
          </a:prstGeom>
          <a:solidFill>
            <a:srgbClr val="0D1628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937760"/>
            <a:ext cx="4206240" cy="4206240"/>
          </a:xfrm>
          <a:prstGeom prst="ellipse">
            <a:avLst/>
          </a:prstGeom>
          <a:solidFill>
            <a:srgbClr val="0D162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ACADEMY  ·  CERTIFICATION READINESS SERIES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watsonx Orchestrate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Engineer v1 — Associate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C1000-207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886200"/>
            <a:ext cx="2743200" cy="27432"/>
          </a:xfrm>
          <a:prstGeom prst="rect">
            <a:avLst/>
          </a:prstGeom>
          <a:solidFill>
            <a:srgbClr val="2A355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2-Hour Comprehensive Certification Review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480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exam domains · Key concepts · Practice-exam walkthrough · Exam-day strategy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989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i3 Technologies Ltd — Nairobi, Kenya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Authorised Training Partner  ·  Red Hat Authorised Training Partner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2-Hour Certification Review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452360" cy="342900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1732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&amp; Exam Blueprint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178040" y="1417320"/>
            <a:ext cx="7315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51660"/>
            <a:ext cx="7452360" cy="342900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5166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Platform Architecture &amp; Core Concepts (13%)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178040" y="1851660"/>
            <a:ext cx="7315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7452360" cy="342900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2860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Agent &amp; Assistant Integration (20%)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178040" y="2286000"/>
            <a:ext cx="7315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720340"/>
            <a:ext cx="7452360" cy="342900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72034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Workflow &amp; Orchestration Design (14%)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78040" y="2720340"/>
            <a:ext cx="7315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7452360" cy="342900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15468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Agent Development (18%)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178040" y="3154680"/>
            <a:ext cx="7315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min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589020"/>
            <a:ext cx="7452360" cy="342900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58902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— Model Management (14%)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178040" y="3589020"/>
            <a:ext cx="7315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023360"/>
            <a:ext cx="7452360" cy="342900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02336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— Security, Compliance &amp; Observability (11%)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178040" y="4023360"/>
            <a:ext cx="7315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457700"/>
            <a:ext cx="7452360" cy="342900"/>
          </a:xfrm>
          <a:prstGeom prst="roundRect">
            <a:avLst>
              <a:gd name="adj" fmla="val 16000"/>
            </a:avLst>
          </a:prstGeom>
          <a:solidFill>
            <a:srgbClr val="F7F8FA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4577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— Deployment, Scaling &amp; Resiliency (10%)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178040" y="4457700"/>
            <a:ext cx="7315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892040"/>
            <a:ext cx="7452360" cy="342900"/>
          </a:xfrm>
          <a:prstGeom prst="roundRect">
            <a:avLst>
              <a:gd name="adj" fmla="val 16000"/>
            </a:avLst>
          </a:prstGeom>
          <a:solidFill>
            <a:srgbClr val="FFF4E0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89204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Practice-Exam Walkthrough &amp; Common Pitfalls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178040" y="4892040"/>
            <a:ext cx="7315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326380"/>
            <a:ext cx="7452360" cy="342900"/>
          </a:xfrm>
          <a:prstGeom prst="roundRect">
            <a:avLst>
              <a:gd name="adj" fmla="val 16000"/>
            </a:avLst>
          </a:prstGeom>
          <a:solidFill>
            <a:srgbClr val="FFF4E0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532638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Exam-Day Strategy, Next Steps &amp; Q&amp;A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178040" y="5326380"/>
            <a:ext cx="7315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189720" y="1417320"/>
            <a:ext cx="2468880" cy="4343400"/>
          </a:xfrm>
          <a:prstGeom prst="roundRect">
            <a:avLst>
              <a:gd name="adj" fmla="val 2963"/>
            </a:avLst>
          </a:prstGeom>
          <a:solidFill>
            <a:srgbClr val="14213D"/>
          </a:solidFill>
          <a:ln/>
        </p:spPr>
      </p:sp>
      <p:sp>
        <p:nvSpPr>
          <p:cNvPr id="35" name="Text 33"/>
          <p:cNvSpPr/>
          <p:nvPr/>
        </p:nvSpPr>
        <p:spPr>
          <a:xfrm>
            <a:off x="9418320" y="1691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100" dirty="0"/>
          </a:p>
          <a:p>
            <a:pPr marL="0" indent="0">
              <a:buNone/>
            </a:pPr>
            <a:r>
              <a:rPr lang="en-US" sz="1100" b="1" kern="0" spc="1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418320" y="2240280"/>
            <a:ext cx="2011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this room able to explain — in your own words — every task in the C1000-207 blueprint, and know exactly which sections need another pass before you sit the exam.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418320" y="4892040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8" name="Text 36"/>
          <p:cNvSpPr/>
          <p:nvPr/>
        </p:nvSpPr>
        <p:spPr>
          <a:xfrm>
            <a:off x="9418320" y="4892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893808" y="48920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deck — it doubles as your post-session revision reference.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Certification Validates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IBM Certified watsonx Orchestrate AI Engineer v1 — Associate credential validates the ability to design, build, and manage AI agent orchestration solutions: agentic workflows, AI assistant integrations, and enterprise-grade governed deployments on the watsonx Orchestrate platform.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72384"/>
            <a:ext cx="100584" cy="10058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9443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knowledge domains, officially weighted by IBM's exam blueprint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529584"/>
            <a:ext cx="100584" cy="10058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4015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Mixes recall questions with applied, scenario-based judgment calls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986784"/>
            <a:ext cx="100584" cy="10058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8587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Retake policy: the assessment can be retaken as needed ($30/attempt) — but the question bank simply reorders, so treat a weak score as a signal to revisit the docs, not just retry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645152"/>
            <a:ext cx="100584" cy="10058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51713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schedule through Pearson VUE (home.pearsonvue.com/ibm)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903720" y="1371600"/>
            <a:ext cx="4754880" cy="4892040"/>
          </a:xfrm>
          <a:prstGeom prst="roundRect">
            <a:avLst>
              <a:gd name="adj" fmla="val 1538"/>
            </a:avLst>
          </a:prstGeom>
          <a:solidFill>
            <a:srgbClr val="14213D"/>
          </a:solidFill>
          <a:ln/>
        </p:spPr>
      </p:sp>
      <p:sp>
        <p:nvSpPr>
          <p:cNvPr id="14" name="Text 12"/>
          <p:cNvSpPr/>
          <p:nvPr/>
        </p:nvSpPr>
        <p:spPr>
          <a:xfrm>
            <a:off x="7178040" y="157276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BLUEPRINT WEIGHT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78040" y="2103120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D9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Platform Architecture &amp; Core Concepts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7178040" y="2340864"/>
            <a:ext cx="2651760" cy="146304"/>
          </a:xfrm>
          <a:prstGeom prst="roundRect">
            <a:avLst>
              <a:gd name="adj" fmla="val 18750"/>
            </a:avLst>
          </a:prstGeom>
          <a:solidFill>
            <a:srgbClr val="2A3550"/>
          </a:solidFill>
          <a:ln/>
        </p:spPr>
      </p:sp>
      <p:sp>
        <p:nvSpPr>
          <p:cNvPr id="17" name="Shape 15"/>
          <p:cNvSpPr/>
          <p:nvPr/>
        </p:nvSpPr>
        <p:spPr>
          <a:xfrm>
            <a:off x="7178040" y="2340864"/>
            <a:ext cx="1723644" cy="146304"/>
          </a:xfrm>
          <a:prstGeom prst="roundRect">
            <a:avLst>
              <a:gd name="adj" fmla="val 18750"/>
            </a:avLst>
          </a:prstGeom>
          <a:solidFill>
            <a:srgbClr val="2EC4B6"/>
          </a:solidFill>
          <a:ln/>
        </p:spPr>
      </p:sp>
      <p:sp>
        <p:nvSpPr>
          <p:cNvPr id="18" name="Text 16"/>
          <p:cNvSpPr/>
          <p:nvPr/>
        </p:nvSpPr>
        <p:spPr>
          <a:xfrm>
            <a:off x="9921240" y="224942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78040" y="2670048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D9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Agent &amp; Assistant Integration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7178040" y="2907792"/>
            <a:ext cx="2651760" cy="146304"/>
          </a:xfrm>
          <a:prstGeom prst="roundRect">
            <a:avLst>
              <a:gd name="adj" fmla="val 18750"/>
            </a:avLst>
          </a:prstGeom>
          <a:solidFill>
            <a:srgbClr val="2A3550"/>
          </a:solidFill>
          <a:ln/>
        </p:spPr>
      </p:sp>
      <p:sp>
        <p:nvSpPr>
          <p:cNvPr id="21" name="Shape 19"/>
          <p:cNvSpPr/>
          <p:nvPr/>
        </p:nvSpPr>
        <p:spPr>
          <a:xfrm>
            <a:off x="7178040" y="2907792"/>
            <a:ext cx="2651760" cy="146304"/>
          </a:xfrm>
          <a:prstGeom prst="roundRect">
            <a:avLst>
              <a:gd name="adj" fmla="val 18750"/>
            </a:avLst>
          </a:prstGeom>
          <a:solidFill>
            <a:srgbClr val="FCA311"/>
          </a:solidFill>
          <a:ln/>
        </p:spPr>
      </p:sp>
      <p:sp>
        <p:nvSpPr>
          <p:cNvPr id="22" name="Text 20"/>
          <p:cNvSpPr/>
          <p:nvPr/>
        </p:nvSpPr>
        <p:spPr>
          <a:xfrm>
            <a:off x="9921240" y="28163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78040" y="3236976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D9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Workflow &amp; Orchestration Design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7178040" y="3474720"/>
            <a:ext cx="2651760" cy="146304"/>
          </a:xfrm>
          <a:prstGeom prst="roundRect">
            <a:avLst>
              <a:gd name="adj" fmla="val 18750"/>
            </a:avLst>
          </a:prstGeom>
          <a:solidFill>
            <a:srgbClr val="2A3550"/>
          </a:solidFill>
          <a:ln/>
        </p:spPr>
      </p:sp>
      <p:sp>
        <p:nvSpPr>
          <p:cNvPr id="25" name="Shape 23"/>
          <p:cNvSpPr/>
          <p:nvPr/>
        </p:nvSpPr>
        <p:spPr>
          <a:xfrm>
            <a:off x="7178040" y="3474720"/>
            <a:ext cx="1856232" cy="146304"/>
          </a:xfrm>
          <a:prstGeom prst="roundRect">
            <a:avLst>
              <a:gd name="adj" fmla="val 18750"/>
            </a:avLst>
          </a:prstGeom>
          <a:solidFill>
            <a:srgbClr val="2EC4B6"/>
          </a:solidFill>
          <a:ln/>
        </p:spPr>
      </p:sp>
      <p:sp>
        <p:nvSpPr>
          <p:cNvPr id="26" name="Text 24"/>
          <p:cNvSpPr/>
          <p:nvPr/>
        </p:nvSpPr>
        <p:spPr>
          <a:xfrm>
            <a:off x="9921240" y="33832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78040" y="3803904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D9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Agent Development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7178040" y="4041648"/>
            <a:ext cx="2651760" cy="146304"/>
          </a:xfrm>
          <a:prstGeom prst="roundRect">
            <a:avLst>
              <a:gd name="adj" fmla="val 18750"/>
            </a:avLst>
          </a:prstGeom>
          <a:solidFill>
            <a:srgbClr val="2A3550"/>
          </a:solidFill>
          <a:ln/>
        </p:spPr>
      </p:sp>
      <p:sp>
        <p:nvSpPr>
          <p:cNvPr id="29" name="Shape 27"/>
          <p:cNvSpPr/>
          <p:nvPr/>
        </p:nvSpPr>
        <p:spPr>
          <a:xfrm>
            <a:off x="7178040" y="4041648"/>
            <a:ext cx="2386584" cy="146304"/>
          </a:xfrm>
          <a:prstGeom prst="roundRect">
            <a:avLst>
              <a:gd name="adj" fmla="val 18750"/>
            </a:avLst>
          </a:prstGeom>
          <a:solidFill>
            <a:srgbClr val="FCA311"/>
          </a:solidFill>
          <a:ln/>
        </p:spPr>
      </p:sp>
      <p:sp>
        <p:nvSpPr>
          <p:cNvPr id="30" name="Text 28"/>
          <p:cNvSpPr/>
          <p:nvPr/>
        </p:nvSpPr>
        <p:spPr>
          <a:xfrm>
            <a:off x="9921240" y="395020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78040" y="4370832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D9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Model Management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7178040" y="4608576"/>
            <a:ext cx="2651760" cy="146304"/>
          </a:xfrm>
          <a:prstGeom prst="roundRect">
            <a:avLst>
              <a:gd name="adj" fmla="val 18750"/>
            </a:avLst>
          </a:prstGeom>
          <a:solidFill>
            <a:srgbClr val="2A3550"/>
          </a:solidFill>
          <a:ln/>
        </p:spPr>
      </p:sp>
      <p:sp>
        <p:nvSpPr>
          <p:cNvPr id="33" name="Shape 31"/>
          <p:cNvSpPr/>
          <p:nvPr/>
        </p:nvSpPr>
        <p:spPr>
          <a:xfrm>
            <a:off x="7178040" y="4608576"/>
            <a:ext cx="1856232" cy="146304"/>
          </a:xfrm>
          <a:prstGeom prst="roundRect">
            <a:avLst>
              <a:gd name="adj" fmla="val 18750"/>
            </a:avLst>
          </a:prstGeom>
          <a:solidFill>
            <a:srgbClr val="2EC4B6"/>
          </a:solidFill>
          <a:ln/>
        </p:spPr>
      </p:sp>
      <p:sp>
        <p:nvSpPr>
          <p:cNvPr id="34" name="Text 32"/>
          <p:cNvSpPr/>
          <p:nvPr/>
        </p:nvSpPr>
        <p:spPr>
          <a:xfrm>
            <a:off x="9921240" y="451713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78040" y="4937760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D9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Security, Compliance &amp; Observability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7178040" y="5175504"/>
            <a:ext cx="2651760" cy="146304"/>
          </a:xfrm>
          <a:prstGeom prst="roundRect">
            <a:avLst>
              <a:gd name="adj" fmla="val 18750"/>
            </a:avLst>
          </a:prstGeom>
          <a:solidFill>
            <a:srgbClr val="2A3550"/>
          </a:solidFill>
          <a:ln/>
        </p:spPr>
      </p:sp>
      <p:sp>
        <p:nvSpPr>
          <p:cNvPr id="37" name="Shape 35"/>
          <p:cNvSpPr/>
          <p:nvPr/>
        </p:nvSpPr>
        <p:spPr>
          <a:xfrm>
            <a:off x="7178040" y="5175504"/>
            <a:ext cx="1458468" cy="146304"/>
          </a:xfrm>
          <a:prstGeom prst="roundRect">
            <a:avLst>
              <a:gd name="adj" fmla="val 18750"/>
            </a:avLst>
          </a:prstGeom>
          <a:solidFill>
            <a:srgbClr val="2EC4B6"/>
          </a:solidFill>
          <a:ln/>
        </p:spPr>
      </p:sp>
      <p:sp>
        <p:nvSpPr>
          <p:cNvPr id="38" name="Text 36"/>
          <p:cNvSpPr/>
          <p:nvPr/>
        </p:nvSpPr>
        <p:spPr>
          <a:xfrm>
            <a:off x="9921240" y="50840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178040" y="5504688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D9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Deployment, Scaling &amp; Resiliency</a:t>
            </a:r>
            <a:endParaRPr lang="en-US" sz="970" dirty="0"/>
          </a:p>
        </p:txBody>
      </p:sp>
      <p:sp>
        <p:nvSpPr>
          <p:cNvPr id="40" name="Shape 38"/>
          <p:cNvSpPr/>
          <p:nvPr/>
        </p:nvSpPr>
        <p:spPr>
          <a:xfrm>
            <a:off x="7178040" y="5742432"/>
            <a:ext cx="2651760" cy="146304"/>
          </a:xfrm>
          <a:prstGeom prst="roundRect">
            <a:avLst>
              <a:gd name="adj" fmla="val 18750"/>
            </a:avLst>
          </a:prstGeom>
          <a:solidFill>
            <a:srgbClr val="2A3550"/>
          </a:solidFill>
          <a:ln/>
        </p:spPr>
      </p:sp>
      <p:sp>
        <p:nvSpPr>
          <p:cNvPr id="41" name="Shape 39"/>
          <p:cNvSpPr/>
          <p:nvPr/>
        </p:nvSpPr>
        <p:spPr>
          <a:xfrm>
            <a:off x="7178040" y="5742432"/>
            <a:ext cx="1325880" cy="146304"/>
          </a:xfrm>
          <a:prstGeom prst="roundRect">
            <a:avLst>
              <a:gd name="adj" fmla="val 18750"/>
            </a:avLst>
          </a:prstGeom>
          <a:solidFill>
            <a:srgbClr val="2EC4B6"/>
          </a:solidFill>
          <a:ln/>
        </p:spPr>
      </p:sp>
      <p:sp>
        <p:nvSpPr>
          <p:cNvPr id="42" name="Text 40"/>
          <p:cNvSpPr/>
          <p:nvPr/>
        </p:nvSpPr>
        <p:spPr>
          <a:xfrm>
            <a:off x="9921240" y="56509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178040" y="58064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2 &amp; 4 = 38% combined. Spend your deepest study time there.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Get the Most From This Review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IBM's Three Framing Questions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yourself these for every single task in the blueprint: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7F8F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46888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0175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know how to do this?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349300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click/configure/write the CLI command yourself?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51960" y="224028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7F8FA"/>
          </a:solidFill>
          <a:ln/>
        </p:spPr>
      </p:sp>
      <p:sp>
        <p:nvSpPr>
          <p:cNvPr id="12" name="Shape 10"/>
          <p:cNvSpPr/>
          <p:nvPr/>
        </p:nvSpPr>
        <p:spPr>
          <a:xfrm>
            <a:off x="4480560" y="246888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80560" y="30175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know why it matters?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80560" y="349300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explain the business value in one sentence?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955280" y="224028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7F8FA"/>
          </a:solidFill>
          <a:ln/>
        </p:spPr>
      </p:sp>
      <p:sp>
        <p:nvSpPr>
          <p:cNvPr id="17" name="Shape 15"/>
          <p:cNvSpPr/>
          <p:nvPr/>
        </p:nvSpPr>
        <p:spPr>
          <a:xfrm>
            <a:off x="8183880" y="246888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8" name="Text 16"/>
          <p:cNvSpPr/>
          <p:nvPr/>
        </p:nvSpPr>
        <p:spPr>
          <a:xfrm>
            <a:off x="818388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183880" y="30175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it's done wrong?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183880" y="349300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 — security, cost, reliability, compliance?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Study Sequence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310896" cy="310896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572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4535424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section overview first — build the mental model before drilling into individual tasks.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029200"/>
            <a:ext cx="310896" cy="310896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029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4992624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task references a CLI command, YAML structure, or console workflow — try it hands-on in the Developer Edition if you have credits.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486400"/>
            <a:ext cx="310896" cy="310896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54864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" y="5449824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today's session as your rapid pre-exam refresher; the glossary and CLI quick-reference back in the full guide consolidate the detail.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5943600"/>
            <a:ext cx="310896" cy="310896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59436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840" y="5907024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this session, take the official sample test, then the official assessment exam — and review performance by section, not just overall score.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03120"/>
            <a:ext cx="5669280" cy="5669280"/>
          </a:xfrm>
          <a:prstGeom prst="ellipse">
            <a:avLst/>
          </a:prstGeom>
          <a:solidFill>
            <a:srgbClr val="0D1628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572000"/>
            <a:ext cx="4572000" cy="4572000"/>
          </a:xfrm>
          <a:prstGeom prst="ellipse">
            <a:avLst/>
          </a:prstGeom>
          <a:solidFill>
            <a:srgbClr val="0D162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1051560" cy="105156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148840" y="14630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·  13% OF EXAM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48840" y="1783080"/>
            <a:ext cx="9326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Architecture and Core Concepts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148840" y="269748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i="1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vocabulary and mental model for everything else on the exam — what watsonx Orchestrate is, how it relates to Software Hub, and when it's the right tool.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Mental Model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02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7F8FA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801368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1673352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Assistant follows a mostly deterministic, designer-defined conversation flow (classic virtual-agent style).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624328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825496"/>
            <a:ext cx="457200" cy="45720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825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269748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reasons with an LLM in a Plan → Execute → Reflect loop, choosing which tools or collaborator agents to call to satisfy a goal.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648456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7F8FA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3849624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49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721608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composes many specialised agents (each scoped to one cognitive task) under a supervisor/orchestrator agent.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672584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873752"/>
            <a:ext cx="457200" cy="45720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873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745736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an agent needs — model, tools, knowledge, collaborators — is captured in a declarative definition (YAML via the ADK, or the no-code Agent Builder UI).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8 Core Capabilities of the Platform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5440680" cy="1078992"/>
          </a:xfrm>
          <a:prstGeom prst="roundRect">
            <a:avLst>
              <a:gd name="adj" fmla="val 5932"/>
            </a:avLst>
          </a:prstGeom>
          <a:solidFill>
            <a:srgbClr val="F7F8FA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627632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6276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554480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1847088"/>
            <a:ext cx="4617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Test / Prod isolate configuration, credentials, and agent versions.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5440680" cy="1078992"/>
          </a:xfrm>
          <a:prstGeom prst="roundRect">
            <a:avLst>
              <a:gd name="adj" fmla="val 5932"/>
            </a:avLst>
          </a:prstGeom>
          <a:solidFill>
            <a:srgbClr val="F7F8FA"/>
          </a:solidFill>
          <a:ln/>
        </p:spPr>
      </p:sp>
      <p:sp>
        <p:nvSpPr>
          <p:cNvPr id="13" name="Shape 11"/>
          <p:cNvSpPr/>
          <p:nvPr/>
        </p:nvSpPr>
        <p:spPr>
          <a:xfrm>
            <a:off x="6382512" y="1627632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6382512" y="16276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1554480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&amp; Assistants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0" y="1847088"/>
            <a:ext cx="4617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reason autonomously via LLM + tools; Assistants follow a prescribed flow.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548640" y="2670048"/>
            <a:ext cx="5440680" cy="1078992"/>
          </a:xfrm>
          <a:prstGeom prst="roundRect">
            <a:avLst>
              <a:gd name="adj" fmla="val 5932"/>
            </a:avLst>
          </a:prstGeom>
          <a:solidFill>
            <a:srgbClr val="F7F8FA"/>
          </a:solidFill>
          <a:ln/>
        </p:spPr>
      </p:sp>
      <p:sp>
        <p:nvSpPr>
          <p:cNvPr id="18" name="Shape 16"/>
          <p:cNvSpPr/>
          <p:nvPr/>
        </p:nvSpPr>
        <p:spPr>
          <a:xfrm>
            <a:off x="713232" y="2834640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2761488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Connections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8720" y="3054096"/>
            <a:ext cx="4617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= callable capabilities; Connections = secured credential/endpoint objects.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6217920" y="2670048"/>
            <a:ext cx="5440680" cy="1078992"/>
          </a:xfrm>
          <a:prstGeom prst="roundRect">
            <a:avLst>
              <a:gd name="adj" fmla="val 5932"/>
            </a:avLst>
          </a:prstGeom>
          <a:solidFill>
            <a:srgbClr val="F7F8FA"/>
          </a:solidFill>
          <a:ln/>
        </p:spPr>
      </p:sp>
      <p:sp>
        <p:nvSpPr>
          <p:cNvPr id="23" name="Shape 21"/>
          <p:cNvSpPr/>
          <p:nvPr/>
        </p:nvSpPr>
        <p:spPr>
          <a:xfrm>
            <a:off x="6382512" y="2834640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4" name="Text 22"/>
          <p:cNvSpPr/>
          <p:nvPr/>
        </p:nvSpPr>
        <p:spPr>
          <a:xfrm>
            <a:off x="6382512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0" y="2761488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Workflows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0" y="3054096"/>
            <a:ext cx="4617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→ actions → decision points → outcomes; deterministic multi-step logic.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548640" y="3877056"/>
            <a:ext cx="5440680" cy="1078992"/>
          </a:xfrm>
          <a:prstGeom prst="roundRect">
            <a:avLst>
              <a:gd name="adj" fmla="val 5932"/>
            </a:avLst>
          </a:prstGeom>
          <a:solidFill>
            <a:srgbClr val="F7F8FA"/>
          </a:solidFill>
          <a:ln/>
        </p:spPr>
      </p:sp>
      <p:sp>
        <p:nvSpPr>
          <p:cNvPr id="28" name="Shape 26"/>
          <p:cNvSpPr/>
          <p:nvPr/>
        </p:nvSpPr>
        <p:spPr>
          <a:xfrm>
            <a:off x="713232" y="4041648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" y="4041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88720" y="3968496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88720" y="4261104"/>
            <a:ext cx="4617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Vector-store backed repositories that ground answers in enterprise content (RAG).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6217920" y="3877056"/>
            <a:ext cx="5440680" cy="1078992"/>
          </a:xfrm>
          <a:prstGeom prst="roundRect">
            <a:avLst>
              <a:gd name="adj" fmla="val 5932"/>
            </a:avLst>
          </a:prstGeom>
          <a:solidFill>
            <a:srgbClr val="F7F8FA"/>
          </a:solidFill>
          <a:ln/>
        </p:spPr>
      </p:sp>
      <p:sp>
        <p:nvSpPr>
          <p:cNvPr id="33" name="Shape 31"/>
          <p:cNvSpPr/>
          <p:nvPr/>
        </p:nvSpPr>
        <p:spPr>
          <a:xfrm>
            <a:off x="6382512" y="4041648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4" name="Text 32"/>
          <p:cNvSpPr/>
          <p:nvPr/>
        </p:nvSpPr>
        <p:spPr>
          <a:xfrm>
            <a:off x="6382512" y="4041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0" y="3968496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58000" y="4261104"/>
            <a:ext cx="4617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Pro-code toolchain (CLI + SDK + Dev Edition) — agents/tools as versioned, git-friendly code.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548640" y="5084064"/>
            <a:ext cx="5440680" cy="1078992"/>
          </a:xfrm>
          <a:prstGeom prst="roundRect">
            <a:avLst>
              <a:gd name="adj" fmla="val 5932"/>
            </a:avLst>
          </a:prstGeom>
          <a:solidFill>
            <a:srgbClr val="F7F8FA"/>
          </a:solidFill>
          <a:ln/>
        </p:spPr>
      </p:sp>
      <p:sp>
        <p:nvSpPr>
          <p:cNvPr id="38" name="Shape 36"/>
          <p:cNvSpPr/>
          <p:nvPr/>
        </p:nvSpPr>
        <p:spPr>
          <a:xfrm>
            <a:off x="713232" y="5248656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9" name="Text 37"/>
          <p:cNvSpPr/>
          <p:nvPr/>
        </p:nvSpPr>
        <p:spPr>
          <a:xfrm>
            <a:off x="713232" y="52486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188720" y="5175504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Catalog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88720" y="5468112"/>
            <a:ext cx="4617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repository of prebuilt IBM &amp; partner agents/tools, RBAC-controlled.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6217920" y="5084064"/>
            <a:ext cx="5440680" cy="1078992"/>
          </a:xfrm>
          <a:prstGeom prst="roundRect">
            <a:avLst>
              <a:gd name="adj" fmla="val 5932"/>
            </a:avLst>
          </a:prstGeom>
          <a:solidFill>
            <a:srgbClr val="F7F8FA"/>
          </a:solidFill>
          <a:ln/>
        </p:spPr>
      </p:sp>
      <p:sp>
        <p:nvSpPr>
          <p:cNvPr id="43" name="Shape 41"/>
          <p:cNvSpPr/>
          <p:nvPr/>
        </p:nvSpPr>
        <p:spPr>
          <a:xfrm>
            <a:off x="6382512" y="5248656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44" name="Text 42"/>
          <p:cNvSpPr/>
          <p:nvPr/>
        </p:nvSpPr>
        <p:spPr>
          <a:xfrm>
            <a:off x="6382512" y="52486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858000" y="5175504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 &amp; Model Policies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858000" y="5468112"/>
            <a:ext cx="4617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layer to register/route across LLM &amp; embedding providers with guardrails.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Scoping Orchestrate for a Business Use Case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394960" cy="2834640"/>
          </a:xfrm>
          <a:prstGeom prst="roundRect">
            <a:avLst>
              <a:gd name="adj" fmla="val 2903"/>
            </a:avLst>
          </a:prstGeom>
          <a:solidFill>
            <a:srgbClr val="E4F9F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FIT ✓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2057400"/>
            <a:ext cx="4846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Repetitive, rule-based, multi-step processes</a:t>
            </a:r>
            <a:endParaRPr lang="en-US" sz="12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Standardized inputs, predictable outcomes</a:t>
            </a:r>
            <a:endParaRPr lang="en-US" sz="12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Task automation (approvals, lookups, reports)</a:t>
            </a:r>
            <a:endParaRPr lang="en-US" sz="12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Human-in-the-loop workflows (approval gates, escalations)</a:t>
            </a:r>
            <a:endParaRPr lang="en-US" sz="12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Cross-system orchestration (ERP, CRM, HRIS)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508760"/>
            <a:ext cx="5394960" cy="2834640"/>
          </a:xfrm>
          <a:prstGeom prst="roundRect">
            <a:avLst>
              <a:gd name="adj" fmla="val 2903"/>
            </a:avLst>
          </a:prstGeom>
          <a:solidFill>
            <a:srgbClr val="FCEAEA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FIT ✗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92240" y="2057400"/>
            <a:ext cx="4846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Highly custom software development</a:t>
            </a:r>
            <a:endParaRPr lang="en-US" sz="12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Complex ML model training / custom CV pipelines</a:t>
            </a:r>
            <a:endParaRPr lang="en-US" sz="12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Unstructured, case-by-case human judgment</a:t>
            </a:r>
            <a:endParaRPr lang="en-US" sz="12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Processes with no repeatable steps</a:t>
            </a:r>
            <a:endParaRPr lang="en-US" sz="12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definable, measurable success criteria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Analyzing a Process for Automation — 4 Steps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937760"/>
            <a:ext cx="2697480" cy="868680"/>
          </a:xfrm>
          <a:prstGeom prst="roundRect">
            <a:avLst>
              <a:gd name="adj" fmla="val 7368"/>
            </a:avLst>
          </a:prstGeom>
          <a:solidFill>
            <a:srgbClr val="14213D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5074920"/>
            <a:ext cx="365760" cy="36576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5074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498348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Triggers, actors,</a:t>
            </a:r>
            <a:endParaRPr lang="en-US" sz="103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&amp; data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3364992" y="4937760"/>
            <a:ext cx="2697480" cy="868680"/>
          </a:xfrm>
          <a:prstGeom prst="roundRect">
            <a:avLst>
              <a:gd name="adj" fmla="val 7368"/>
            </a:avLst>
          </a:prstGeom>
          <a:solidFill>
            <a:srgbClr val="14213D"/>
          </a:solidFill>
          <a:ln/>
        </p:spPr>
      </p:sp>
      <p:sp>
        <p:nvSpPr>
          <p:cNvPr id="19" name="Shape 17"/>
          <p:cNvSpPr/>
          <p:nvPr/>
        </p:nvSpPr>
        <p:spPr>
          <a:xfrm>
            <a:off x="3502152" y="5074920"/>
            <a:ext cx="365760" cy="36576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0" name="Text 18"/>
          <p:cNvSpPr/>
          <p:nvPr/>
        </p:nvSpPr>
        <p:spPr>
          <a:xfrm>
            <a:off x="3502152" y="5074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959352" y="498348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03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handoffs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6181344" y="4937760"/>
            <a:ext cx="2697480" cy="868680"/>
          </a:xfrm>
          <a:prstGeom prst="roundRect">
            <a:avLst>
              <a:gd name="adj" fmla="val 7368"/>
            </a:avLst>
          </a:prstGeom>
          <a:solidFill>
            <a:srgbClr val="14213D"/>
          </a:solidFill>
          <a:ln/>
        </p:spPr>
      </p:sp>
      <p:sp>
        <p:nvSpPr>
          <p:cNvPr id="23" name="Shape 21"/>
          <p:cNvSpPr/>
          <p:nvPr/>
        </p:nvSpPr>
        <p:spPr>
          <a:xfrm>
            <a:off x="6318504" y="5074920"/>
            <a:ext cx="365760" cy="36576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4" name="Text 22"/>
          <p:cNvSpPr/>
          <p:nvPr/>
        </p:nvSpPr>
        <p:spPr>
          <a:xfrm>
            <a:off x="6318504" y="5074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75704" y="498348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Decisions, approvals</a:t>
            </a:r>
            <a:endParaRPr lang="en-US" sz="103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conditions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8997696" y="4937760"/>
            <a:ext cx="2697480" cy="868680"/>
          </a:xfrm>
          <a:prstGeom prst="roundRect">
            <a:avLst>
              <a:gd name="adj" fmla="val 7368"/>
            </a:avLst>
          </a:prstGeom>
          <a:solidFill>
            <a:srgbClr val="14213D"/>
          </a:solidFill>
          <a:ln/>
        </p:spPr>
      </p:sp>
      <p:sp>
        <p:nvSpPr>
          <p:cNvPr id="27" name="Shape 25"/>
          <p:cNvSpPr/>
          <p:nvPr/>
        </p:nvSpPr>
        <p:spPr>
          <a:xfrm>
            <a:off x="9134856" y="5074920"/>
            <a:ext cx="365760" cy="36576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8" name="Text 26"/>
          <p:cNvSpPr/>
          <p:nvPr/>
        </p:nvSpPr>
        <p:spPr>
          <a:xfrm>
            <a:off x="9134856" y="5074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592056" y="498348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</a:t>
            </a:r>
            <a:endParaRPr lang="en-US" sz="103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03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1 — Exam Tips &amp; Recap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11064240" cy="4663440"/>
          </a:xfrm>
          <a:prstGeom prst="roundRect">
            <a:avLst>
              <a:gd name="adj" fmla="val 1961"/>
            </a:avLst>
          </a:prstGeom>
          <a:solidFill>
            <a:srgbClr val="14213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EXAM TIPS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228600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23113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questions will ask you to judge whether Orchestrate fits a described process — look for repeatable, rule-based patterns vs. open-ended judgment calls.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06324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300837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Environments (Dev/Test/Prod) cold — the concept recurs again in Sections 4 and 7.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365760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657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360273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able to state, in one sentence each, the difference between an Agent and an Assistant — tested again, more deeply, in Section 2.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443484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434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437997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Hub is the licensing/deployment substrate Orchestrate depends on for hybrid and on-prem installs — it is not a competing product.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Recap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03120"/>
            <a:ext cx="5669280" cy="5669280"/>
          </a:xfrm>
          <a:prstGeom prst="ellipse">
            <a:avLst/>
          </a:prstGeom>
          <a:solidFill>
            <a:srgbClr val="0D1628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572000"/>
            <a:ext cx="4572000" cy="4572000"/>
          </a:xfrm>
          <a:prstGeom prst="ellipse">
            <a:avLst/>
          </a:prstGeom>
          <a:solidFill>
            <a:srgbClr val="0D162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1051560" cy="105156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148840" y="14630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20% OF EXAM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48840" y="1783080"/>
            <a:ext cx="9326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and Assistant Integration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148840" y="269748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i="1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heaviest-weighted section. How agents, assistants, external agents, and multi-agent orchestration all fit together — plus Langflow as a visual alternative.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Assistants, Agents, Collaborators &amp; External Agents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7F8FA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691640"/>
            <a:ext cx="2377440" cy="685800"/>
          </a:xfrm>
          <a:prstGeom prst="roundRect">
            <a:avLst>
              <a:gd name="adj" fmla="val 46667"/>
            </a:avLst>
          </a:prstGeom>
          <a:solidFill>
            <a:srgbClr val="14213D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916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383280" y="1581912"/>
            <a:ext cx="8001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7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flow-based conversational entity (classic watsonx Assistant model). Well suited to FAQ handling or guided transactions.</a:t>
            </a:r>
            <a:endParaRPr lang="en-US" sz="1170" dirty="0"/>
          </a:p>
        </p:txBody>
      </p:sp>
      <p:sp>
        <p:nvSpPr>
          <p:cNvPr id="11" name="Shape 9"/>
          <p:cNvSpPr/>
          <p:nvPr/>
        </p:nvSpPr>
        <p:spPr>
          <a:xfrm>
            <a:off x="548640" y="2679192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862072"/>
            <a:ext cx="2377440" cy="685800"/>
          </a:xfrm>
          <a:prstGeom prst="roundRect">
            <a:avLst>
              <a:gd name="adj" fmla="val 46667"/>
            </a:avLst>
          </a:prstGeom>
          <a:solidFill>
            <a:srgbClr val="14213D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86207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(native)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83280" y="2752344"/>
            <a:ext cx="8001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7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profile + tools + optional knowledge + optional collaborators. Plans and reasons dynamically rather than following a fixed script.</a:t>
            </a:r>
            <a:endParaRPr lang="en-US" sz="1170" dirty="0"/>
          </a:p>
        </p:txBody>
      </p:sp>
      <p:sp>
        <p:nvSpPr>
          <p:cNvPr id="15" name="Shape 13"/>
          <p:cNvSpPr/>
          <p:nvPr/>
        </p:nvSpPr>
        <p:spPr>
          <a:xfrm>
            <a:off x="548640" y="3849624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7F8FA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4032504"/>
            <a:ext cx="2377440" cy="685800"/>
          </a:xfrm>
          <a:prstGeom prst="roundRect">
            <a:avLst>
              <a:gd name="adj" fmla="val 46667"/>
            </a:avLst>
          </a:prstGeom>
          <a:solidFill>
            <a:srgbClr val="14213D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032504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Collaborator Agent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83280" y="3922776"/>
            <a:ext cx="8001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7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agent (native or external) that a parent/orchestrator agent is permitted to delegate sub-tasks to — internal, invoked.</a:t>
            </a:r>
            <a:endParaRPr lang="en-US" sz="1170" dirty="0"/>
          </a:p>
        </p:txBody>
      </p:sp>
      <p:sp>
        <p:nvSpPr>
          <p:cNvPr id="19" name="Shape 17"/>
          <p:cNvSpPr/>
          <p:nvPr/>
        </p:nvSpPr>
        <p:spPr>
          <a:xfrm>
            <a:off x="548640" y="5020056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202936"/>
            <a:ext cx="2377440" cy="685800"/>
          </a:xfrm>
          <a:prstGeom prst="roundRect">
            <a:avLst>
              <a:gd name="adj" fmla="val 46667"/>
            </a:avLst>
          </a:prstGeom>
          <a:solidFill>
            <a:srgbClr val="14213D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202936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Agent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83280" y="5093208"/>
            <a:ext cx="8001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7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outside Orchestrate's native runtime; integrated via external_chat, an AI-service/Agent Connect endpoint, or A2A.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Implementing an Assistant–Agent Integration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5448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7F8FA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4231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2770632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assistant/agent to integrate exposes a supported interface: native, external_chat, or A2A.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63824" y="25146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337560" y="155448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7F8FA"/>
          </a:solidFill>
          <a:ln/>
        </p:spPr>
      </p:sp>
      <p:sp>
        <p:nvSpPr>
          <p:cNvPr id="14" name="Shape 12"/>
          <p:cNvSpPr/>
          <p:nvPr/>
        </p:nvSpPr>
        <p:spPr>
          <a:xfrm>
            <a:off x="3566160" y="178308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66160" y="24231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566160" y="2770632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necessary connection (credentials/endpoint) in watsonx Orchestrate.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52744" y="25146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126480" y="155448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7F8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55080" y="178308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55080" y="24231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55080" y="2770632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assistant/agent as a collaborator on the orchestrator, with a clear description so the LLM knows when to route to it.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741664" y="25146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915400" y="155448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7F8FA"/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0" y="178308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44000" y="24231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144000" y="2770632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 the chat UI or via the ADK evaluation framework before promoting to Test/Prod.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4114800"/>
            <a:ext cx="11064240" cy="1691640"/>
          </a:xfrm>
          <a:prstGeom prst="roundRect">
            <a:avLst>
              <a:gd name="adj" fmla="val 4865"/>
            </a:avLst>
          </a:prstGeom>
          <a:solidFill>
            <a:srgbClr val="14213D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42793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Agents &amp; the A2A Protocol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22960" y="4617720"/>
            <a:ext cx="10515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30" dirty="0">
                <a:solidFill>
                  <a:srgbClr val="E3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Agent2Agent (A2A) is an open protocol for cross-framework agent interoperability. External A2A agents can only be configured through the ADK (not the no-code Agent Builder) — register the external endpoint &amp; credentials as a connection, then reference it as an external collaborator in the agent's YAML. Business value: investment protection — reuse agents already built on other platforms (watsonx.ai, Salesforce Agentforce, Bedrock AgentCore, LangGraph) instead of rebuilding them natively.</a:t>
            </a:r>
            <a:endParaRPr lang="en-US" sz="113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Orchestration &amp; the Agent Catalog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5440680" cy="3611880"/>
          </a:xfrm>
          <a:prstGeom prst="roundRect">
            <a:avLst>
              <a:gd name="adj" fmla="val 2025"/>
            </a:avLst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6459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4672" y="2093976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987552" y="2002536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of multiple autonomous, specialised agents under one or more supervisor/orchestrator agents.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804672" y="2679192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987552" y="258775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987552" y="2926080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degrades once a single agent holds ~10+ tools — decomposing into specialists keeps each agent's tool set manageable.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804672" y="3474720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5" name="Text 13"/>
          <p:cNvSpPr/>
          <p:nvPr/>
        </p:nvSpPr>
        <p:spPr>
          <a:xfrm>
            <a:off x="987552" y="33832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987552" y="3721608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platforms (A2A), watsonx.ai (Agent Lab), WXO assistants-as-collaborators, external A2A via ADK.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804672" y="4270248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8" name="Text 16"/>
          <p:cNvSpPr/>
          <p:nvPr/>
        </p:nvSpPr>
        <p:spPr>
          <a:xfrm>
            <a:off x="987552" y="417880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987552" y="4517136"/>
            <a:ext cx="4754880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onboarding (docs→benefits→IT) &amp; Sales prospecting (research→CRM→outreach).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6172200" y="1463040"/>
            <a:ext cx="5440680" cy="3611880"/>
          </a:xfrm>
          <a:prstGeom prst="roundRect">
            <a:avLst>
              <a:gd name="adj" fmla="val 2025"/>
            </a:avLst>
          </a:prstGeom>
          <a:solidFill>
            <a:srgbClr val="F7F8FA"/>
          </a:solidFill>
          <a:ln/>
        </p:spPr>
      </p:sp>
      <p:sp>
        <p:nvSpPr>
          <p:cNvPr id="21" name="Text 19"/>
          <p:cNvSpPr/>
          <p:nvPr/>
        </p:nvSpPr>
        <p:spPr>
          <a:xfrm>
            <a:off x="6428232" y="16459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Catalog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28232" y="2093976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3" name="Text 21"/>
          <p:cNvSpPr/>
          <p:nvPr/>
        </p:nvSpPr>
        <p:spPr>
          <a:xfrm>
            <a:off x="6611112" y="2002536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governed repository of prebuilt IBM &amp; partner agents/tools spanning HR, sales, procurement, finance, and IT.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428232" y="2679192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5" name="Text 23"/>
          <p:cNvSpPr/>
          <p:nvPr/>
        </p:nvSpPr>
        <p:spPr>
          <a:xfrm>
            <a:off x="6611112" y="258775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6611112" y="2926080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Speed-to-value — deploy proven, pre-integrated agents (Workday, SAP, Salesforce connectors already built) instead of starting from scratch.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6428232" y="3474720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8" name="Text 26"/>
          <p:cNvSpPr/>
          <p:nvPr/>
        </p:nvSpPr>
        <p:spPr>
          <a:xfrm>
            <a:off x="6611112" y="33832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6611112" y="3721608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and lifecycle management keep usage controlled; team-scoped workspaces restrict visibility/edit rights.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548640" y="5230368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FF4E0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53218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Best-Practice Design Pattern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" y="55961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main orchestrator/supervisor agent with domain-specific collaborators underneath. Organise by business domain, not technical function. Avoid deep nesting. Recommended ceiling: ~10 sub-agents/tools per agent.</a:t>
            </a:r>
            <a:endParaRPr lang="en-US" sz="103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Langflow — A Visual Orchestration Option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63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3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Langflow is an open-source, visual, drag-and-drop builder for LLM applications (RAG pipelines, agent loops, custom tools) — for teams that prefer visual composition over hand-written Python.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Langflow flow is imported and treated as a TOOL (kind = "langflow") — never as an agent, assistant, or workflow in its own right.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329184" cy="32918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51560" y="2569464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ADK with --with-langflow (embedded visual editor, typically port 7861)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329184" cy="32918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632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51560" y="3026664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or import a flow in the Langflow visual editor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329184" cy="32918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520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51560" y="3483864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flow as JSON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329184" cy="32918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9776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51560" y="3941064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via ADK CLI: orchestrate tools import -k langflow ...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329184" cy="32918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4348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51560" y="4398264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to an agent's YAML like any other tool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7F8FA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0749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supported: standard components (Chat I/O, LLM nodes, retrievers, custom Python), custom Langflow components, and "Publish as MCP Server" as an alternate integration path.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2 — Exam Tips &amp; Recap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11064240" cy="4663440"/>
          </a:xfrm>
          <a:prstGeom prst="roundRect">
            <a:avLst>
              <a:gd name="adj" fmla="val 1961"/>
            </a:avLst>
          </a:prstGeom>
          <a:solidFill>
            <a:srgbClr val="14213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EXAM TIPS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228600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23113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20% of the exam — expect the most scenario-style questions here. Memorise the four-way distinction: Assistant / Agent / Collaborator Agent / External Agent.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06324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300837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A2A agents = configured ONLY via ADK. If a question mentions A2A + no-code Agent Builder together as the answer, that's a distractor.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384048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378561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Langflow output is imported as a TOOL, never as an agent — a very common trap in practice questions.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443484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434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437997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"Identify the specific use cases/tasks the integration needs to support" is consistently the correct FIRST step across integration-sequencing questions.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Recap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03120"/>
            <a:ext cx="5669280" cy="5669280"/>
          </a:xfrm>
          <a:prstGeom prst="ellipse">
            <a:avLst/>
          </a:prstGeom>
          <a:solidFill>
            <a:srgbClr val="0D1628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572000"/>
            <a:ext cx="4572000" cy="4572000"/>
          </a:xfrm>
          <a:prstGeom prst="ellipse">
            <a:avLst/>
          </a:prstGeom>
          <a:solidFill>
            <a:srgbClr val="0D162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1051560" cy="105156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148840" y="14630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14% OF EXAM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48840" y="1783080"/>
            <a:ext cx="9326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and Orchestration Design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148840" y="269748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i="1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structured, more deterministic side of automation — Agentic Workflows and Flow Builder — plus MCP tool integration and pre-built domain agents.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Agentic Workflows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Flow Pattern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2606040" cy="868680"/>
          </a:xfrm>
          <a:prstGeom prst="roundRect">
            <a:avLst>
              <a:gd name="adj" fmla="val 7368"/>
            </a:avLst>
          </a:prstGeom>
          <a:solidFill>
            <a:srgbClr val="14213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7452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172968" y="2011680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93008" y="1874520"/>
            <a:ext cx="2606040" cy="868680"/>
          </a:xfrm>
          <a:prstGeom prst="roundRect">
            <a:avLst>
              <a:gd name="adj" fmla="val 7368"/>
            </a:avLst>
          </a:prstGeom>
          <a:solidFill>
            <a:srgbClr val="14213D"/>
          </a:solidFill>
          <a:ln/>
        </p:spPr>
      </p:sp>
      <p:sp>
        <p:nvSpPr>
          <p:cNvPr id="12" name="Text 10"/>
          <p:cNvSpPr/>
          <p:nvPr/>
        </p:nvSpPr>
        <p:spPr>
          <a:xfrm>
            <a:off x="3493008" y="187452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of</a:t>
            </a:r>
            <a:endParaRPr lang="en-US" sz="12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117336" y="2011680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37376" y="1874520"/>
            <a:ext cx="2606040" cy="868680"/>
          </a:xfrm>
          <a:prstGeom prst="roundRect">
            <a:avLst>
              <a:gd name="adj" fmla="val 7368"/>
            </a:avLst>
          </a:prstGeom>
          <a:solidFill>
            <a:srgbClr val="1421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37376" y="187452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061704" y="2011680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381744" y="1874520"/>
            <a:ext cx="2606040" cy="868680"/>
          </a:xfrm>
          <a:prstGeom prst="roundRect">
            <a:avLst>
              <a:gd name="adj" fmla="val 7368"/>
            </a:avLst>
          </a:prstGeom>
          <a:solidFill>
            <a:srgbClr val="14213D"/>
          </a:solidFill>
          <a:ln/>
        </p:spPr>
      </p:sp>
      <p:sp>
        <p:nvSpPr>
          <p:cNvPr id="18" name="Text 16"/>
          <p:cNvSpPr/>
          <p:nvPr/>
        </p:nvSpPr>
        <p:spPr>
          <a:xfrm>
            <a:off x="9381744" y="187452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3063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Extend a Workflow Step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429000"/>
            <a:ext cx="3611880" cy="2697480"/>
          </a:xfrm>
          <a:prstGeom prst="roundRect">
            <a:avLst>
              <a:gd name="adj" fmla="val 2712"/>
            </a:avLst>
          </a:prstGeom>
          <a:solidFill>
            <a:srgbClr val="F7F8FA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36118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Activities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04672" y="4059936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3" name="Text 21"/>
          <p:cNvSpPr/>
          <p:nvPr/>
        </p:nvSpPr>
        <p:spPr>
          <a:xfrm>
            <a:off x="987552" y="3968496"/>
            <a:ext cx="29260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steps that pause the flow to collect input, request an approval, or hand off a decision — then resume automatically once the person responds.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804672" y="5010912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5" name="Text 23"/>
          <p:cNvSpPr/>
          <p:nvPr/>
        </p:nvSpPr>
        <p:spPr>
          <a:xfrm>
            <a:off x="987552" y="491947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interaction is captured for audit purposes.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4297680" y="3429000"/>
            <a:ext cx="3611880" cy="2697480"/>
          </a:xfrm>
          <a:prstGeom prst="roundRect">
            <a:avLst>
              <a:gd name="adj" fmla="val 2712"/>
            </a:avLst>
          </a:prstGeom>
          <a:solidFill>
            <a:srgbClr val="F7F8FA"/>
          </a:solidFill>
          <a:ln/>
        </p:spPr>
      </p:sp>
      <p:sp>
        <p:nvSpPr>
          <p:cNvPr id="27" name="Text 25"/>
          <p:cNvSpPr/>
          <p:nvPr/>
        </p:nvSpPr>
        <p:spPr>
          <a:xfrm>
            <a:off x="4553712" y="36118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Prompts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53712" y="4059936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9" name="Text 27"/>
          <p:cNvSpPr/>
          <p:nvPr/>
        </p:nvSpPr>
        <p:spPr>
          <a:xfrm>
            <a:off x="4736592" y="3968496"/>
            <a:ext cx="29260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step inserted into an otherwise deterministic flow to handle a sub-task needing language understanding — e.g., summarizing a document, classifying free text.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8046720" y="3429000"/>
            <a:ext cx="3611880" cy="2697480"/>
          </a:xfrm>
          <a:prstGeom prst="roundRect">
            <a:avLst>
              <a:gd name="adj" fmla="val 2712"/>
            </a:avLst>
          </a:prstGeom>
          <a:solidFill>
            <a:srgbClr val="E4F9F6"/>
          </a:solidFill>
          <a:ln/>
        </p:spPr>
      </p:sp>
      <p:sp>
        <p:nvSpPr>
          <p:cNvPr id="31" name="Text 29"/>
          <p:cNvSpPr/>
          <p:nvPr/>
        </p:nvSpPr>
        <p:spPr>
          <a:xfrm>
            <a:off x="8302752" y="36118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Blocks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302752" y="4059936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3" name="Text 31"/>
          <p:cNvSpPr/>
          <p:nvPr/>
        </p:nvSpPr>
        <p:spPr>
          <a:xfrm>
            <a:off x="8485632" y="3968496"/>
            <a:ext cx="29260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logic (typically Python) embedded directly in a flow step for data transformation, validation, or calculations not warranting a full standalone tool.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Context Protocol (MCP) Integration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3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an open standard that lets AI agents interact with external tools and data sources through a consistent, structured interface — regardless of which LLM or agent framework is calling them.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329184" cy="32918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488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51560" y="207568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3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the tool with the MCP server (your own, or a gateway such as ContextForge)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548640" y="2587752"/>
            <a:ext cx="329184" cy="32918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877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51560" y="25146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3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functionality using MCP Inspector — confirms schema &amp; behaviour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548640" y="3026664"/>
            <a:ext cx="329184" cy="32918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0266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51560" y="2953512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3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via ADK: orchestrate toolkits add --kind mcp ... (local npx/uvx, or remote --url + --transport sse | streamable_http)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548640" y="3593592"/>
            <a:ext cx="329184" cy="32918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5935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51560" y="352044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3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the imported tools in the consuming agent's tool list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7F8F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49884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MCP over point-to-point integration?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480060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Standardized, reusable interface — works across multiple LLM providers/frameworks without rewriting integrations. Well suited where accuracy, security, and auditability matter (financial calcs, credit checks).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6172200" y="434340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7F8FA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449884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ContextForge MCP Gateway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46520" y="4800600"/>
            <a:ext cx="5029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proxy/registry for MCP tools: register multiple MCP servers (different transports, access levels, auth incl. OAuth), combine tools into 'virtual servers', and expose a curated, secured subset for agents to consume.</a:t>
            </a:r>
            <a:endParaRPr lang="en-US" sz="103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Pre-Built Domain Agents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3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Ready-made agents in the Agent Catalog, scoped to specific business domains — shipped with connectors, prompts, and behaviours already tuned so teams can deploy and customise rather than build from a blank canvas.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2121408" cy="1508760"/>
          </a:xfrm>
          <a:prstGeom prst="roundRect">
            <a:avLst>
              <a:gd name="adj" fmla="val 4848"/>
            </a:avLst>
          </a:prstGeom>
          <a:solidFill>
            <a:srgbClr val="14213D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3172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788920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30" dirty="0">
                <a:solidFill>
                  <a:srgbClr val="F0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benefits, org-structure lookups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2811780" y="2194560"/>
            <a:ext cx="2121408" cy="1508760"/>
          </a:xfrm>
          <a:prstGeom prst="roundRect">
            <a:avLst>
              <a:gd name="adj" fmla="val 4848"/>
            </a:avLst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2948940" y="233172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48940" y="2788920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30" dirty="0">
                <a:solidFill>
                  <a:srgbClr val="F0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Prospecting, account/contact retrieval, performance replication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5074920" y="2194560"/>
            <a:ext cx="2121408" cy="1508760"/>
          </a:xfrm>
          <a:prstGeom prst="roundRect">
            <a:avLst>
              <a:gd name="adj" fmla="val 4848"/>
            </a:avLst>
          </a:prstGeom>
          <a:solidFill>
            <a:srgbClr val="14213D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233172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/ Procurement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0" y="2788920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30" dirty="0">
                <a:solidFill>
                  <a:srgbClr val="F0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Approvals, spend workflows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7338060" y="2194560"/>
            <a:ext cx="2121408" cy="1508760"/>
          </a:xfrm>
          <a:prstGeom prst="roundRect">
            <a:avLst>
              <a:gd name="adj" fmla="val 4848"/>
            </a:avLst>
          </a:prstGeom>
          <a:solidFill>
            <a:srgbClr val="2EC4B6"/>
          </a:solidFill>
          <a:ln/>
        </p:spPr>
      </p:sp>
      <p:sp>
        <p:nvSpPr>
          <p:cNvPr id="18" name="Text 16"/>
          <p:cNvSpPr/>
          <p:nvPr/>
        </p:nvSpPr>
        <p:spPr>
          <a:xfrm>
            <a:off x="7475220" y="233172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/ Security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75220" y="2788920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30" dirty="0">
                <a:solidFill>
                  <a:srgbClr val="F0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Threat-scanning integrations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9601200" y="2194560"/>
            <a:ext cx="2121408" cy="1508760"/>
          </a:xfrm>
          <a:prstGeom prst="roundRect">
            <a:avLst>
              <a:gd name="adj" fmla="val 4848"/>
            </a:avLst>
          </a:prstGeom>
          <a:solidFill>
            <a:srgbClr val="14213D"/>
          </a:solidFill>
          <a:ln/>
        </p:spPr>
      </p:sp>
      <p:sp>
        <p:nvSpPr>
          <p:cNvPr id="21" name="Text 19"/>
          <p:cNvSpPr/>
          <p:nvPr/>
        </p:nvSpPr>
        <p:spPr>
          <a:xfrm>
            <a:off x="9738360" y="2331720"/>
            <a:ext cx="1847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Knowledge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738360" y="2788920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30" dirty="0">
                <a:solidFill>
                  <a:srgbClr val="F0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research, legal research, news aggregation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548640" y="3977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Customizing a Pre-Built Agent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" y="43434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secure connections between the pre-built agent and your enterprise applications (same connection/authentication model as custom tools) → clone, adjust instructions/guidelines, add or remove tools → re-test before deploying to Test/Prod.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4E0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0749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scenario: an HR supervisor agent delegates document collection to one collaborator, benefits enrollment to another, and IT-equipment provisioning to a third — each specialised, each auditable.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3 — Exam Tips &amp; Recap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11064240" cy="4663440"/>
          </a:xfrm>
          <a:prstGeom prst="roundRect">
            <a:avLst>
              <a:gd name="adj" fmla="val 1961"/>
            </a:avLst>
          </a:prstGeom>
          <a:solidFill>
            <a:srgbClr val="14213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EXAM TIPS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228600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23113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Memorise the flow pattern verbatim: Trigger → sequence of actions → decision points → outcomes. It's tested as a fill-in-the-blank pattern.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06324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300837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import sequence matters: register with MCP server → validate with MCP Inspector → import via ADK → configure the consuming agent. Getting the order wrong is the classic distractor.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384048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378561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four tool-authoring paths: Python tool (full custom code), OpenAPI tool (generated from spec), MCP tool (external server, framework-agnostic), Langflow tool (visually authored).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461772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617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456285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domain agent categories named in the objectives: HR and Sales prospecting — expect these as the 'correct' example answer.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Recap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03120"/>
            <a:ext cx="5669280" cy="5669280"/>
          </a:xfrm>
          <a:prstGeom prst="ellipse">
            <a:avLst/>
          </a:prstGeom>
          <a:solidFill>
            <a:srgbClr val="0D1628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572000"/>
            <a:ext cx="4572000" cy="4572000"/>
          </a:xfrm>
          <a:prstGeom prst="ellipse">
            <a:avLst/>
          </a:prstGeom>
          <a:solidFill>
            <a:srgbClr val="0D162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1051560" cy="105156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148840" y="14630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·  18% OF EXAM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48840" y="1783080"/>
            <a:ext cx="9326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Development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148840" y="269748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i="1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practical core of the exam: designing an agent's purpose and logic, building it with the right structural elements, testing it, and connecting it to channels.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Agents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2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agent design starts with a precise purpose statement — what the agent does, and just as importantly, what it does NOT do — then lists every tool, knowledge base, connection, and data dependency it will need.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vs. Knowledge Base vs. LLM Reasoning — The Decision Framework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514600"/>
            <a:ext cx="3611880" cy="73152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697480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 on LLM Reasoning Alone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3200400"/>
            <a:ext cx="320954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understanding, summarisation, creative drafting, brainstorming — no precise data or execution needed.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83964" y="25146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/>
        </p:spPr>
      </p:sp>
      <p:sp>
        <p:nvSpPr>
          <p:cNvPr id="14" name="Shape 12"/>
          <p:cNvSpPr/>
          <p:nvPr/>
        </p:nvSpPr>
        <p:spPr>
          <a:xfrm>
            <a:off x="4283964" y="2514600"/>
            <a:ext cx="3611880" cy="73152"/>
          </a:xfrm>
          <a:prstGeom prst="roundRect">
            <a:avLst/>
          </a:prstGeom>
          <a:solidFill>
            <a:srgbClr val="FCA311"/>
          </a:solidFill>
          <a:ln/>
        </p:spPr>
      </p:sp>
      <p:sp>
        <p:nvSpPr>
          <p:cNvPr id="15" name="Text 13"/>
          <p:cNvSpPr/>
          <p:nvPr/>
        </p:nvSpPr>
        <p:spPr>
          <a:xfrm>
            <a:off x="4485132" y="2697480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from a Knowledge Base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85132" y="3200400"/>
            <a:ext cx="320954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answerable from enterprise documents/policies where grounding in verified content matters more than live computation.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19288" y="25146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/>
        </p:spPr>
      </p:sp>
      <p:sp>
        <p:nvSpPr>
          <p:cNvPr id="18" name="Shape 16"/>
          <p:cNvSpPr/>
          <p:nvPr/>
        </p:nvSpPr>
        <p:spPr>
          <a:xfrm>
            <a:off x="8019288" y="2514600"/>
            <a:ext cx="3611880" cy="73152"/>
          </a:xfrm>
          <a:prstGeom prst="roundRect">
            <a:avLst/>
          </a:prstGeom>
          <a:solidFill>
            <a:srgbClr val="14213D"/>
          </a:solidFill>
          <a:ln/>
        </p:spPr>
      </p:sp>
      <p:sp>
        <p:nvSpPr>
          <p:cNvPr id="19" name="Text 17"/>
          <p:cNvSpPr/>
          <p:nvPr/>
        </p:nvSpPr>
        <p:spPr>
          <a:xfrm>
            <a:off x="8220456" y="2697480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 Tool (incl. MCP)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0456" y="3200400"/>
            <a:ext cx="320954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calculations, live system lookups, or actions with side effects (create/update/submit) — needs accuracy &amp; auditability.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52628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inputs to define upfront: purpose, scope, expected output, required tools, knowledge bases, connections, data dependencies — plus governance/ethics/tone guidelines embedded directly in the agent's behaviour instructions.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2120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4E0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2120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 rule of thumb: favor narrowly scoped agents (one agent, one cognitive task) composed via collaborators — keeps tool count low (ceiling ~10) and improves tool-selection accuracy.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Elements &amp; Building an Agent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6916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Structural Elements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4672" y="2139696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987552" y="204825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987552" y="2386584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description, owner, permissions — the description is critical; supervisor agents use it to decide when to route to this agent.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804672" y="2935224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284378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987552" y="3182112"/>
            <a:ext cx="4754880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actions or composite capabilities — a single API call, or a toolkit bundle.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804672" y="3579876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987552" y="348843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987552" y="3826764"/>
            <a:ext cx="4754880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 linking an agent/tool to an external system (auth + endpoints).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804672" y="4224528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" y="413308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Bases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987552" y="4471416"/>
            <a:ext cx="4754880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the agent's answers in enterprise content.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804672" y="4869180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2" name="Text 20"/>
          <p:cNvSpPr/>
          <p:nvPr/>
        </p:nvSpPr>
        <p:spPr>
          <a:xfrm>
            <a:off x="987552" y="47777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Workflows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987552" y="5116068"/>
            <a:ext cx="4754880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repeatable multi-step logic the agent can invoke.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6172200" y="150876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7F8FA"/>
          </a:solidFill>
          <a:ln/>
        </p:spPr>
      </p:sp>
      <p:sp>
        <p:nvSpPr>
          <p:cNvPr id="25" name="Text 23"/>
          <p:cNvSpPr/>
          <p:nvPr/>
        </p:nvSpPr>
        <p:spPr>
          <a:xfrm>
            <a:off x="6428232" y="16916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Process &amp; Readiness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28232" y="2139696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7" name="Text 25"/>
          <p:cNvSpPr/>
          <p:nvPr/>
        </p:nvSpPr>
        <p:spPr>
          <a:xfrm>
            <a:off x="6611112" y="204825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stages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6611112" y="2386584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purpose/profile → select model → attach tools/connections/knowledge → configure collaborators &amp; guidelines → test in chat/evaluation → prepare for promotion.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6428232" y="2935224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0" name="Text 28"/>
          <p:cNvSpPr/>
          <p:nvPr/>
        </p:nvSpPr>
        <p:spPr>
          <a:xfrm>
            <a:off x="6611112" y="284378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ADK's role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6611112" y="3182112"/>
            <a:ext cx="4754880" cy="5074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the platform with custom, code-based components (Python tools, custom agent YAML, imported OpenAPI/MCP tools, Langflow flows) — use it when the no-code Agent Builder can't cover the need.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6428232" y="3881628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3" name="Text 31"/>
          <p:cNvSpPr/>
          <p:nvPr/>
        </p:nvSpPr>
        <p:spPr>
          <a:xfrm>
            <a:off x="6611112" y="379018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before Test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6611112" y="4128516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all assets/connections are defined (no missing credentials); ensure documentation &amp; version details are complete for a clear audit trail.</a:t>
            </a:r>
            <a:endParaRPr lang="en-US" sz="97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Agents &amp; the Evaluation Framework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define 'stories' (natural-language descriptions, typically CSV) → generate synthetic test cases (incl. expected tool-call trajectories) → run evaluation → inspect results.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7F8FA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2402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vs. Generating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" y="2688336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987552" y="2596896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captures real interaction transcripts as test data.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04672" y="3273552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3182112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creates synthetic scenarios via ADK to broaden coverage beyond manual examples.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4297680" y="20574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7F8FA"/>
          </a:solidFill>
          <a:ln/>
        </p:spPr>
      </p:sp>
      <p:sp>
        <p:nvSpPr>
          <p:cNvPr id="15" name="Text 13"/>
          <p:cNvSpPr/>
          <p:nvPr/>
        </p:nvSpPr>
        <p:spPr>
          <a:xfrm>
            <a:off x="4553712" y="22402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53712" y="2688336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7" name="Text 15"/>
          <p:cNvSpPr/>
          <p:nvPr/>
        </p:nvSpPr>
        <p:spPr>
          <a:xfrm>
            <a:off x="4736592" y="2596896"/>
            <a:ext cx="29260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agents can fail mid-step yet still produce a plausible answer, checks cover the TRAJECTORY too — correct tools, right order, right arguments — not just the final response.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8046720" y="20574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E4F9F6"/>
          </a:solidFill>
          <a:ln/>
        </p:spPr>
      </p:sp>
      <p:sp>
        <p:nvSpPr>
          <p:cNvPr id="19" name="Text 17"/>
          <p:cNvSpPr/>
          <p:nvPr/>
        </p:nvSpPr>
        <p:spPr>
          <a:xfrm>
            <a:off x="8302752" y="22402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→ Observability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302752" y="2688336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1" name="Text 19"/>
          <p:cNvSpPr/>
          <p:nvPr/>
        </p:nvSpPr>
        <p:spPr>
          <a:xfrm>
            <a:off x="8485632" y="2596896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= build-time / pre-release check against known scenarios.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8302752" y="3273552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3" name="Text 21"/>
          <p:cNvSpPr/>
          <p:nvPr/>
        </p:nvSpPr>
        <p:spPr>
          <a:xfrm>
            <a:off x="8485632" y="3182112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(Section 6) = continuous production monitoring. Regressions caught in eval should also show as drift in observability metrics.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48640" y="4251960"/>
            <a:ext cx="11064240" cy="1783080"/>
          </a:xfrm>
          <a:prstGeom prst="roundRect">
            <a:avLst>
              <a:gd name="adj" fmla="val 4615"/>
            </a:avLst>
          </a:prstGeom>
          <a:solidFill>
            <a:srgbClr val="14213D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4074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Testing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22960" y="473659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30" dirty="0">
                <a:solidFill>
                  <a:srgbClr val="E3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functional correctness, agents must be tested against adversarial or malformed input to confirm guardrails hold — attempts to override instructions, extract system prompts, or trigger unintended tool calls.</a:t>
            </a:r>
            <a:endParaRPr lang="en-US" sz="1130" dirty="0"/>
          </a:p>
        </p:txBody>
      </p:sp>
      <p:sp>
        <p:nvSpPr>
          <p:cNvPr id="27" name="Text 25"/>
          <p:cNvSpPr/>
          <p:nvPr/>
        </p:nvSpPr>
        <p:spPr>
          <a:xfrm>
            <a:off x="822960" y="5349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3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risks to test for:  Prompt Injection  ·  System-Prompt/Instruction Leakage  ·  Unintended or Excessive Tool Invocation</a:t>
            </a:r>
            <a:endParaRPr lang="en-US" sz="113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Prompting, Security Controls &amp; Channels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5440680" cy="3108960"/>
          </a:xfrm>
          <a:prstGeom prst="roundRect">
            <a:avLst>
              <a:gd name="adj" fmla="val 2353"/>
            </a:avLst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6459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Prompting Techniques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4672" y="2093976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987552" y="200253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ReAct-style prompting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987552" y="2340864"/>
            <a:ext cx="4754880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Interleaving reasoning and tool-calling steps for better tool-selection accuracy.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804672" y="2738628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264718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Planner-style prompting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987552" y="2985516"/>
            <a:ext cx="4754880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multi-step planning for complex tasks.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804672" y="3383280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987552" y="32918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tool/agent descriptions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987552" y="3630168"/>
            <a:ext cx="4754880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drive routing decisions in single- and multi-agent delegation.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804672" y="4027932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" y="393649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Guideline/guardrail instructions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987552" y="4274820"/>
            <a:ext cx="4754880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dos/don'ts embedded in behaviour definitions.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6172200" y="1463040"/>
            <a:ext cx="5440680" cy="3108960"/>
          </a:xfrm>
          <a:prstGeom prst="roundRect">
            <a:avLst>
              <a:gd name="adj" fmla="val 2353"/>
            </a:avLst>
          </a:prstGeom>
          <a:solidFill>
            <a:srgbClr val="F7F8FA"/>
          </a:solidFill>
          <a:ln/>
        </p:spPr>
      </p:sp>
      <p:sp>
        <p:nvSpPr>
          <p:cNvPr id="22" name="Text 20"/>
          <p:cNvSpPr/>
          <p:nvPr/>
        </p:nvSpPr>
        <p:spPr>
          <a:xfrm>
            <a:off x="6428232" y="16459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Mitigating Controls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28232" y="2093976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4" name="Text 22"/>
          <p:cNvSpPr/>
          <p:nvPr/>
        </p:nvSpPr>
        <p:spPr>
          <a:xfrm>
            <a:off x="6611112" y="200253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Input/output plug-ins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6611112" y="2340864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and can modify or block messages before/after processing — enforce safety, security &amp; regulatory guardrails consistently, every invocation.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6428232" y="2889504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7" name="Text 25"/>
          <p:cNvSpPr/>
          <p:nvPr/>
        </p:nvSpPr>
        <p:spPr>
          <a:xfrm>
            <a:off x="6611112" y="279806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iteratively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6611112" y="3136392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ADK Evaluation Framework + Orchestrate Copilot to test prompts against representative and adversarial scenarios.</a:t>
            </a:r>
            <a:endParaRPr lang="en-US" sz="970" dirty="0"/>
          </a:p>
        </p:txBody>
      </p:sp>
      <p:sp>
        <p:nvSpPr>
          <p:cNvPr id="29" name="Text 27"/>
          <p:cNvSpPr/>
          <p:nvPr/>
        </p:nvSpPr>
        <p:spPr>
          <a:xfrm>
            <a:off x="548640" y="4709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Agents to Channels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48640" y="50749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Supported: embedded web chat, Slack, MS Teams, WhatsApp/SMS, contact-centre/telephony (e.g. Genesys), Facebook Messenger, and CRM integrations (Salesforce, Zendesk).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54406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channel introduces its own authentication surface (API tokens, OAuth, webhook secrets) — scope no more broadly than necessary, and test end-to-end through the actual channel (not just internal chat UI) before Prod.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4 — Exam Tips &amp; Recap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11064240" cy="4663440"/>
          </a:xfrm>
          <a:prstGeom prst="roundRect">
            <a:avLst>
              <a:gd name="adj" fmla="val 1961"/>
            </a:avLst>
          </a:prstGeom>
          <a:solidFill>
            <a:srgbClr val="14213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EXAM TIPS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228600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23113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of the exam. Know the tool-vs-KB-vs-LLM decision framework cold — it's the most frequently tested judgment call in this section.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06324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300837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Metadata's description field is the routing mechanism for supervisor agents — this comes up in both Section 2 and Section 4 questions.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384048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378561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checks the reasoning TRAJECTORY (tool calls, order, arguments), not just the final answer — a subtle but recurring distinction.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461772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617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456285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named prompt security risks are: prompt injection, system-prompt/instruction leakage, and unintended/excessive tool invocation. Input/output plug-ins are the named mitigating control.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Recap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03120"/>
            <a:ext cx="5669280" cy="5669280"/>
          </a:xfrm>
          <a:prstGeom prst="ellipse">
            <a:avLst/>
          </a:prstGeom>
          <a:solidFill>
            <a:srgbClr val="0D1628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572000"/>
            <a:ext cx="4572000" cy="4572000"/>
          </a:xfrm>
          <a:prstGeom prst="ellipse">
            <a:avLst/>
          </a:prstGeom>
          <a:solidFill>
            <a:srgbClr val="0D162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1051560" cy="105156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148840" y="14630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 ·  14% OF EXAM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48840" y="1783080"/>
            <a:ext cx="9326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Management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148840" y="269748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i="1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tooling used to develop agents faster (Orchestrate Copilot), how to choose an LLM appropriately, and how the AI Gateway and model policies govern models in production.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Orchestrate Copilot &amp; Choosing an LLM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 Copilot (VS Code)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Scaffolds an IDE-connected workspace linked to your ADK project. Conversational commands inside the IDE: scaffold a new agent, refine prompts/instructions, generate/update tool code, and query WXO docs and the ADK CLI — without leaving the editor.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Factors in LLM Selection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2697480" cy="2651760"/>
          </a:xfrm>
          <a:prstGeom prst="roundRect">
            <a:avLst>
              <a:gd name="adj" fmla="val 2759"/>
            </a:avLst>
          </a:prstGeom>
          <a:solidFill>
            <a:srgbClr val="14213D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3456432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Appropriateness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13232" y="3977640"/>
            <a:ext cx="236829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60" dirty="0">
                <a:solidFill>
                  <a:srgbClr val="F0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Reasoning-heavy planning → larger, more capable models. Simple classification/extraction → smaller, cheaper models.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3337560" y="3291840"/>
            <a:ext cx="2697480" cy="2651760"/>
          </a:xfrm>
          <a:prstGeom prst="roundRect">
            <a:avLst>
              <a:gd name="adj" fmla="val 2759"/>
            </a:avLst>
          </a:prstGeom>
          <a:solidFill>
            <a:srgbClr val="2EC4B6"/>
          </a:solidFill>
          <a:ln/>
        </p:spPr>
      </p:sp>
      <p:sp>
        <p:nvSpPr>
          <p:cNvPr id="15" name="Text 13"/>
          <p:cNvSpPr/>
          <p:nvPr/>
        </p:nvSpPr>
        <p:spPr>
          <a:xfrm>
            <a:off x="3502152" y="3456432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Accuracy / Latency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02152" y="3977640"/>
            <a:ext cx="236829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60" dirty="0">
                <a:solidFill>
                  <a:srgbClr val="F0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models cost more &amp; respond slower but reason more reliably; smaller/quantised models are faster/cheaper but may need more guidance.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6126480" y="3291840"/>
            <a:ext cx="2697480" cy="2651760"/>
          </a:xfrm>
          <a:prstGeom prst="roundRect">
            <a:avLst>
              <a:gd name="adj" fmla="val 2759"/>
            </a:avLst>
          </a:prstGeom>
          <a:solidFill>
            <a:srgbClr val="14213D"/>
          </a:solidFill>
          <a:ln/>
        </p:spPr>
      </p:sp>
      <p:sp>
        <p:nvSpPr>
          <p:cNvPr id="18" name="Text 16"/>
          <p:cNvSpPr/>
          <p:nvPr/>
        </p:nvSpPr>
        <p:spPr>
          <a:xfrm>
            <a:off x="6291072" y="3456432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Modality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91072" y="3977640"/>
            <a:ext cx="236829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60" dirty="0">
                <a:solidFill>
                  <a:srgbClr val="F0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Text-only vs. models that also support vision/image input — relevant when an agent must process documents or images.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8915400" y="3291840"/>
            <a:ext cx="2697480" cy="2651760"/>
          </a:xfrm>
          <a:prstGeom prst="roundRect">
            <a:avLst>
              <a:gd name="adj" fmla="val 2759"/>
            </a:avLst>
          </a:prstGeom>
          <a:solidFill>
            <a:srgbClr val="2EC4B6"/>
          </a:solidFill>
          <a:ln/>
        </p:spPr>
      </p:sp>
      <p:sp>
        <p:nvSpPr>
          <p:cNvPr id="21" name="Text 19"/>
          <p:cNvSpPr/>
          <p:nvPr/>
        </p:nvSpPr>
        <p:spPr>
          <a:xfrm>
            <a:off x="9079992" y="3456432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Models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079992" y="3977640"/>
            <a:ext cx="236829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60" dirty="0">
                <a:solidFill>
                  <a:srgbClr val="F0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Granite alongside Llama, GPT-OSS, OpenAI, and models via AWS Bedrock, Groq, or Ollama for local dev. Availability varies by deployment &amp; region.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Gateway &amp; Model Policies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6916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4672" y="2139696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987552" y="204825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987552" y="2386584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Single, unified interface to route/format requests across multiple model providers — no one-off integration code per provider.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804672" y="2935224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284378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987552" y="3182112"/>
            <a:ext cx="4754880" cy="5074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reference a model logically (virtual model name); the Gateway resolves that to the actual provider/endpoint at runtime — swap, load-balance, or fail over without changing agent definitions.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804672" y="3881628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987552" y="379018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use cases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987552" y="4128516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Bring-your-own-model (BYOM), lightweight/local models via Ollama for dev, registering embedding models for KB semantic search.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804672" y="4677156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" y="458571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models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987552" y="4924044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(IBM Cloud/AWS — per service instance) and on-prem/CP4D (via REST API, scoped to the instance). At least one default LLM + one default embedding model per instance.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6172200" y="150876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7F8FA"/>
          </a:solidFill>
          <a:ln/>
        </p:spPr>
      </p:sp>
      <p:sp>
        <p:nvSpPr>
          <p:cNvPr id="22" name="Text 20"/>
          <p:cNvSpPr/>
          <p:nvPr/>
        </p:nvSpPr>
        <p:spPr>
          <a:xfrm>
            <a:off x="6428232" y="16916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Policies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28232" y="2139696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4" name="Text 22"/>
          <p:cNvSpPr/>
          <p:nvPr/>
        </p:nvSpPr>
        <p:spPr>
          <a:xfrm>
            <a:off x="6611112" y="204825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govern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6611112" y="2386584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Default/primary model assignment, failover ordering, and load-balancing/routing rules across equivalent models.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6428232" y="2935224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7" name="Text 25"/>
          <p:cNvSpPr/>
          <p:nvPr/>
        </p:nvSpPr>
        <p:spPr>
          <a:xfrm>
            <a:off x="6611112" y="284378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6611112" y="3182112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against a named pool of models, edited as provider availability changes, removed when no longer needed — via the AI Gateway admin UI or ADK/API.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6428232" y="3730752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0" name="Text 28"/>
          <p:cNvSpPr/>
          <p:nvPr/>
        </p:nvSpPr>
        <p:spPr>
          <a:xfrm>
            <a:off x="6611112" y="363931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apply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6611112" y="3977640"/>
            <a:ext cx="4754880" cy="5074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&amp; failover; insights from ops/governance dashboards (cost, performance, compliance) inform when to adjust; guardrails restrict which models are permitted for which use cases.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6428232" y="4677156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3" name="Text 31"/>
          <p:cNvSpPr/>
          <p:nvPr/>
        </p:nvSpPr>
        <p:spPr>
          <a:xfrm>
            <a:off x="6611112" y="458571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across environments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6611112" y="4924044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can be exported/imported — validated in Dev/Test, then promoted consistently into Prod rather than rebuilt manually.</a:t>
            </a:r>
            <a:endParaRPr lang="en-US" sz="97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5 — Exam Tips &amp; Recap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11064240" cy="4663440"/>
          </a:xfrm>
          <a:prstGeom prst="roundRect">
            <a:avLst>
              <a:gd name="adj" fmla="val 1961"/>
            </a:avLst>
          </a:prstGeom>
          <a:solidFill>
            <a:srgbClr val="14213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EXAM TIPS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228600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23113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AI Gateway (the routing/registration layer) from Model Policies (the rules applied within that routing) — they're frequently tested together as a pair.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06324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300837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"Popularity of a model alone, ignoring cost/accuracy/latency" is a classic wrong-answer distractor for LLM selection questions.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384048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378561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policies support failover/fallback — if the primary model is unavailable, requests route to an alternate model automatically.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461772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617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456285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at least one default LLM and one default embedding model must be registered per AI Gateway instance.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Recap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03120"/>
            <a:ext cx="5669280" cy="5669280"/>
          </a:xfrm>
          <a:prstGeom prst="ellipse">
            <a:avLst/>
          </a:prstGeom>
          <a:solidFill>
            <a:srgbClr val="0D1628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572000"/>
            <a:ext cx="4572000" cy="4572000"/>
          </a:xfrm>
          <a:prstGeom prst="ellipse">
            <a:avLst/>
          </a:prstGeom>
          <a:solidFill>
            <a:srgbClr val="0D162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1051560" cy="105156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148840" y="14630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 ·  11% OF EXAM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48840" y="1783080"/>
            <a:ext cx="9326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Security, Compliance, and Observability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148840" y="269748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i="1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in nature — running agents responsibly at enterprise scale: who can do what (authN/authZ/RBAC), what gets logged and monitored, and how governance is embedded.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Authentication, Authorization &amp; Audit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5440680" cy="1298448"/>
          </a:xfrm>
          <a:prstGeom prst="roundRect">
            <a:avLst>
              <a:gd name="adj" fmla="val 4930"/>
            </a:avLst>
          </a:prstGeom>
          <a:solidFill>
            <a:srgbClr val="F7F8FA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618488"/>
            <a:ext cx="329184" cy="32918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6184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70432" y="1554480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1170432" y="1847088"/>
            <a:ext cx="46177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keys/tokens for programmatic (ADK/API) access; federated identity/IAM integration for user sign-in — varies by SaaS vs. on-prem Software Hub deployment.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5440680" cy="1298448"/>
          </a:xfrm>
          <a:prstGeom prst="roundRect">
            <a:avLst>
              <a:gd name="adj" fmla="val 4930"/>
            </a:avLst>
          </a:prstGeom>
          <a:solidFill>
            <a:srgbClr val="F7F8FA"/>
          </a:solidFill>
          <a:ln/>
        </p:spPr>
      </p:sp>
      <p:sp>
        <p:nvSpPr>
          <p:cNvPr id="13" name="Shape 11"/>
          <p:cNvSpPr/>
          <p:nvPr/>
        </p:nvSpPr>
        <p:spPr>
          <a:xfrm>
            <a:off x="6382512" y="1618488"/>
            <a:ext cx="329184" cy="32918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6382512" y="16184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39712" y="1554480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170" dirty="0"/>
          </a:p>
        </p:txBody>
      </p:sp>
      <p:sp>
        <p:nvSpPr>
          <p:cNvPr id="16" name="Text 14"/>
          <p:cNvSpPr/>
          <p:nvPr/>
        </p:nvSpPr>
        <p:spPr>
          <a:xfrm>
            <a:off x="6839712" y="1847088"/>
            <a:ext cx="46177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roles with varying access/privileges — users only get permissions necessary for their task (building vs. deploying vs. only chatting). Extends to team-scoped Catalog workspaces.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2889504"/>
            <a:ext cx="5440680" cy="1298448"/>
          </a:xfrm>
          <a:prstGeom prst="roundRect">
            <a:avLst>
              <a:gd name="adj" fmla="val 4930"/>
            </a:avLst>
          </a:prstGeom>
          <a:solidFill>
            <a:srgbClr val="F7F8FA"/>
          </a:solidFill>
          <a:ln/>
        </p:spPr>
      </p:sp>
      <p:sp>
        <p:nvSpPr>
          <p:cNvPr id="18" name="Shape 16"/>
          <p:cNvSpPr/>
          <p:nvPr/>
        </p:nvSpPr>
        <p:spPr>
          <a:xfrm>
            <a:off x="713232" y="3044952"/>
            <a:ext cx="329184" cy="32918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30449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70432" y="2980944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across services</a:t>
            </a:r>
            <a:endParaRPr lang="en-US" sz="1170" dirty="0"/>
          </a:p>
        </p:txBody>
      </p:sp>
      <p:sp>
        <p:nvSpPr>
          <p:cNvPr id="21" name="Text 19"/>
          <p:cNvSpPr/>
          <p:nvPr/>
        </p:nvSpPr>
        <p:spPr>
          <a:xfrm>
            <a:off x="1170432" y="3273552"/>
            <a:ext cx="46177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AuthN/authZ apply across the agent runtime, the Catalog, connections/credentials, and the ADK/API surface — not just the main UI.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17920" y="2889504"/>
            <a:ext cx="5440680" cy="1298448"/>
          </a:xfrm>
          <a:prstGeom prst="roundRect">
            <a:avLst>
              <a:gd name="adj" fmla="val 4930"/>
            </a:avLst>
          </a:prstGeom>
          <a:solidFill>
            <a:srgbClr val="F7F8FA"/>
          </a:solidFill>
          <a:ln/>
        </p:spPr>
      </p:sp>
      <p:sp>
        <p:nvSpPr>
          <p:cNvPr id="23" name="Shape 21"/>
          <p:cNvSpPr/>
          <p:nvPr/>
        </p:nvSpPr>
        <p:spPr>
          <a:xfrm>
            <a:off x="6382512" y="3044952"/>
            <a:ext cx="329184" cy="32918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4" name="Text 22"/>
          <p:cNvSpPr/>
          <p:nvPr/>
        </p:nvSpPr>
        <p:spPr>
          <a:xfrm>
            <a:off x="6382512" y="30449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39712" y="2980944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connections</a:t>
            </a:r>
            <a:endParaRPr lang="en-US" sz="1170" dirty="0"/>
          </a:p>
        </p:txBody>
      </p:sp>
      <p:sp>
        <p:nvSpPr>
          <p:cNvPr id="26" name="Text 24"/>
          <p:cNvSpPr/>
          <p:nvPr/>
        </p:nvSpPr>
        <p:spPr>
          <a:xfrm>
            <a:off x="6839712" y="3273552"/>
            <a:ext cx="46177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encapsulate credentials (API keys, OAuth, basic auth) + endpoints for inbound/outbound access — scoped and rotated per enterprise policy.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315968"/>
            <a:ext cx="5440680" cy="1298448"/>
          </a:xfrm>
          <a:prstGeom prst="roundRect">
            <a:avLst>
              <a:gd name="adj" fmla="val 4930"/>
            </a:avLst>
          </a:prstGeom>
          <a:solidFill>
            <a:srgbClr val="F7F8FA"/>
          </a:solidFill>
          <a:ln/>
        </p:spPr>
      </p:sp>
      <p:sp>
        <p:nvSpPr>
          <p:cNvPr id="28" name="Shape 26"/>
          <p:cNvSpPr/>
          <p:nvPr/>
        </p:nvSpPr>
        <p:spPr>
          <a:xfrm>
            <a:off x="713232" y="4471416"/>
            <a:ext cx="329184" cy="32918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" y="44714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70432" y="4407408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1170" dirty="0"/>
          </a:p>
        </p:txBody>
      </p:sp>
      <p:sp>
        <p:nvSpPr>
          <p:cNvPr id="31" name="Text 29"/>
          <p:cNvSpPr/>
          <p:nvPr/>
        </p:nvSpPr>
        <p:spPr>
          <a:xfrm>
            <a:off x="1170432" y="4700016"/>
            <a:ext cx="46177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records of events/activities — essential for monitoring, diagnosing issues, ensuring compliance, and investigating incidents.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17920" y="4315968"/>
            <a:ext cx="5440680" cy="1298448"/>
          </a:xfrm>
          <a:prstGeom prst="roundRect">
            <a:avLst>
              <a:gd name="adj" fmla="val 4930"/>
            </a:avLst>
          </a:prstGeom>
          <a:solidFill>
            <a:srgbClr val="F7F8FA"/>
          </a:solidFill>
          <a:ln/>
        </p:spPr>
      </p:sp>
      <p:sp>
        <p:nvSpPr>
          <p:cNvPr id="33" name="Shape 31"/>
          <p:cNvSpPr/>
          <p:nvPr/>
        </p:nvSpPr>
        <p:spPr>
          <a:xfrm>
            <a:off x="6382512" y="4471416"/>
            <a:ext cx="329184" cy="32918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4" name="Text 32"/>
          <p:cNvSpPr/>
          <p:nvPr/>
        </p:nvSpPr>
        <p:spPr>
          <a:xfrm>
            <a:off x="6382512" y="44714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39712" y="4407408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checklist</a:t>
            </a:r>
            <a:endParaRPr lang="en-US" sz="1170" dirty="0"/>
          </a:p>
        </p:txBody>
      </p:sp>
      <p:sp>
        <p:nvSpPr>
          <p:cNvPr id="36" name="Text 34"/>
          <p:cNvSpPr/>
          <p:nvPr/>
        </p:nvSpPr>
        <p:spPr>
          <a:xfrm>
            <a:off x="6839712" y="4700016"/>
            <a:ext cx="46177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publishes a checklist so admins can verify identity mechanisms, RBAC assignment, and audit logging/retention systematically.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 &amp; Governance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6916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Logging &amp; Observability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4672" y="2139696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987552" y="204825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logging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987552" y="2386584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activity/audit data into enterprise monitoring or SIEM tools for centralized visibility.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804672" y="2935224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284378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dashboards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987552" y="3182112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volume, error rates, response times, and user-satisfaction signals — no separate tool needed.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804672" y="3730752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987552" y="363931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987552" y="3977640"/>
            <a:ext cx="4754880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OpenTelemetry-compatible traces across agent interactions and workflows.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804672" y="4375404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" y="428396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987552" y="4622292"/>
            <a:ext cx="4754880" cy="5074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LLM observability platform with native ADK integration — forwards telemetry (traces, spans, logs) for full execution inspection: prompts, intermediate thoughts, tool calls, outputs.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804672" y="5321808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2" name="Text 20"/>
          <p:cNvSpPr/>
          <p:nvPr/>
        </p:nvSpPr>
        <p:spPr>
          <a:xfrm>
            <a:off x="987552" y="523036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diagnostic metrics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987552" y="5568696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per step, tool-call success/failure rates, token usage/cost, trajectory deviations (wrong tool called, step skipped).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6172200" y="150876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7F8FA"/>
          </a:solidFill>
          <a:ln/>
        </p:spPr>
      </p:sp>
      <p:sp>
        <p:nvSpPr>
          <p:cNvPr id="25" name="Text 23"/>
          <p:cNvSpPr/>
          <p:nvPr/>
        </p:nvSpPr>
        <p:spPr>
          <a:xfrm>
            <a:off x="6428232" y="16916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Compliance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28232" y="2139696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7" name="Text 25"/>
          <p:cNvSpPr/>
          <p:nvPr/>
        </p:nvSpPr>
        <p:spPr>
          <a:xfrm>
            <a:off x="6611112" y="204825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control plane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6611112" y="2386584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view of agent inventory, policy enforcement (approved models/tools), and performance/compliance monitoring — regardless of framework.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6428232" y="2935224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0" name="Text 28"/>
          <p:cNvSpPr/>
          <p:nvPr/>
        </p:nvSpPr>
        <p:spPr>
          <a:xfrm>
            <a:off x="6611112" y="284378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controls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6611112" y="3182112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Guideline/guardrail instructions, input/output plug-ins, model policies, and RBAC — working together.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6428232" y="3730752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3" name="Text 31"/>
          <p:cNvSpPr/>
          <p:nvPr/>
        </p:nvSpPr>
        <p:spPr>
          <a:xfrm>
            <a:off x="6611112" y="363931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frameworks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6611112" y="3977640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is framework-agnostic; audit logs + governance dashboards + RBAC give the evidence trail for industry-specific regulation.</a:t>
            </a:r>
            <a:endParaRPr lang="en-US" sz="970" dirty="0"/>
          </a:p>
        </p:txBody>
      </p:sp>
      <p:sp>
        <p:nvSpPr>
          <p:cNvPr id="35" name="Shape 33"/>
          <p:cNvSpPr/>
          <p:nvPr/>
        </p:nvSpPr>
        <p:spPr>
          <a:xfrm>
            <a:off x="6428232" y="4526280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6" name="Text 34"/>
          <p:cNvSpPr/>
          <p:nvPr/>
        </p:nvSpPr>
        <p:spPr>
          <a:xfrm>
            <a:off x="6611112" y="44348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SPbD (Security &amp; Privacy by Design)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6611112" y="4773168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controls in from the outset — redact/block sensitive data via plug-ins, least-privilege connections, KBs that respect requester authorisation — never retrofitted.</a:t>
            </a:r>
            <a:endParaRPr lang="en-US" sz="970" dirty="0"/>
          </a:p>
        </p:txBody>
      </p:sp>
      <p:sp>
        <p:nvSpPr>
          <p:cNvPr id="38" name="Shape 36"/>
          <p:cNvSpPr/>
          <p:nvPr/>
        </p:nvSpPr>
        <p:spPr>
          <a:xfrm>
            <a:off x="6428232" y="5321808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9" name="Text 37"/>
          <p:cNvSpPr/>
          <p:nvPr/>
        </p:nvSpPr>
        <p:spPr>
          <a:xfrm>
            <a:off x="6611112" y="523036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6611112" y="5568696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applies design → build/test → deploy → operate, continuously — not a one-time gate.</a:t>
            </a:r>
            <a:endParaRPr lang="en-US" sz="97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6 — Exam Tips &amp; Recap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11064240" cy="4663440"/>
          </a:xfrm>
          <a:prstGeom prst="roundRect">
            <a:avLst>
              <a:gd name="adj" fmla="val 1961"/>
            </a:avLst>
          </a:prstGeom>
          <a:solidFill>
            <a:srgbClr val="14213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EXAM TIPS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228600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23113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SPbD = build security/privacy in from the START of design, never as an afterthought. This phrase pattern ("proactively... from the outset") is always the correct answer.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06324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300837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is CONTINUOUS across the full lifecycle (design → build → test → deploy → operate) — any option suggesting a one-time check is a distractor.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384048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378561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is the named external observability tool with native ADK integration — know it specifically, don't confuse it with the AI Gateway or built-in dashboards.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461772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617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456285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Authentication/authorization/audit concerns should be applied CONTEXTUALLY (sensitivity, channel) — not uniformly and not only at one lifecycle stage.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Recap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03120"/>
            <a:ext cx="5669280" cy="5669280"/>
          </a:xfrm>
          <a:prstGeom prst="ellipse">
            <a:avLst/>
          </a:prstGeom>
          <a:solidFill>
            <a:srgbClr val="0D1628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572000"/>
            <a:ext cx="4572000" cy="4572000"/>
          </a:xfrm>
          <a:prstGeom prst="ellipse">
            <a:avLst/>
          </a:prstGeom>
          <a:solidFill>
            <a:srgbClr val="0D162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1051560" cy="105156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148840" y="14630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 ·  10% OF EXAM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48840" y="1783080"/>
            <a:ext cx="9326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Deployment, Scaling, Optimization, and Resiliency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148840" y="269748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i="1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operational lifecycle: managing environments, building/maintaining knowledge bases at scale, running agents/assistants/gateways in production, and CI/CD.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Environments &amp; Knowledge Bases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6916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Manage Environments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4672" y="2139696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987552" y="204825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987552" y="2386584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 (Dev/Test/Prod, or additional named environments) with appropriate naming conventions, regions, and resource tiers — via ADK CLI or console.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804672" y="2935224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284378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management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987552" y="3182112"/>
            <a:ext cx="4754880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keys, connection parameters, model-policy assignments defined per environment.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804672" y="3579876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987552" y="348843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987552" y="3826764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separate credentials/data across Dev/Test/Prod so experimentation cannot affect production.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804672" y="4375404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" y="428396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987552" y="4622292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performance, capacity limits, and alerts per environment to catch pressure before it affects users.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804672" y="5170932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2" name="Text 20"/>
          <p:cNvSpPr/>
          <p:nvPr/>
        </p:nvSpPr>
        <p:spPr>
          <a:xfrm>
            <a:off x="987552" y="507949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/ restore / migration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987552" y="5417820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Export/import configurations; manage environment versioning for reliable recovery/migration (e.g., on-prem → cloud).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6172200" y="150876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7F8FA"/>
          </a:solidFill>
          <a:ln/>
        </p:spPr>
      </p:sp>
      <p:sp>
        <p:nvSpPr>
          <p:cNvPr id="25" name="Text 23"/>
          <p:cNvSpPr/>
          <p:nvPr/>
        </p:nvSpPr>
        <p:spPr>
          <a:xfrm>
            <a:off x="6428232" y="16916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Manage Knowledge Bases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28232" y="2139696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7" name="Text 25"/>
          <p:cNvSpPr/>
          <p:nvPr/>
        </p:nvSpPr>
        <p:spPr>
          <a:xfrm>
            <a:off x="6611112" y="204825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configure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6611112" y="2386584"/>
            <a:ext cx="4754880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instances with appropriate schemas, storage backends, retrieval configs.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6428232" y="2784348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0" name="Text 28"/>
          <p:cNvSpPr/>
          <p:nvPr/>
        </p:nvSpPr>
        <p:spPr>
          <a:xfrm>
            <a:off x="6611112" y="269290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documents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6611112" y="3031236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HTML, JSON; configure chunking strategy and manage metadata (source, owner, sensitivity).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6428232" y="3579876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3" name="Text 31"/>
          <p:cNvSpPr/>
          <p:nvPr/>
        </p:nvSpPr>
        <p:spPr>
          <a:xfrm>
            <a:off x="6611112" y="348843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embeddings &amp; indexing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6611112" y="3826764"/>
            <a:ext cx="4754880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 (via AI Gateway) + vector DB + indexing params enable semantic search.</a:t>
            </a:r>
            <a:endParaRPr lang="en-US" sz="970" dirty="0"/>
          </a:p>
        </p:txBody>
      </p:sp>
      <p:sp>
        <p:nvSpPr>
          <p:cNvPr id="35" name="Shape 33"/>
          <p:cNvSpPr/>
          <p:nvPr/>
        </p:nvSpPr>
        <p:spPr>
          <a:xfrm>
            <a:off x="6428232" y="4224528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6" name="Text 34"/>
          <p:cNvSpPr/>
          <p:nvPr/>
        </p:nvSpPr>
        <p:spPr>
          <a:xfrm>
            <a:off x="6611112" y="413308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&amp; updates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6611112" y="4471416"/>
            <a:ext cx="4754880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document versions, incremental updates, snapshot/rollback if ingestion goes bad.</a:t>
            </a:r>
            <a:endParaRPr lang="en-US" sz="970" dirty="0"/>
          </a:p>
        </p:txBody>
      </p:sp>
      <p:sp>
        <p:nvSpPr>
          <p:cNvPr id="38" name="Shape 36"/>
          <p:cNvSpPr/>
          <p:nvPr/>
        </p:nvSpPr>
        <p:spPr>
          <a:xfrm>
            <a:off x="6428232" y="4869180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9" name="Text 37"/>
          <p:cNvSpPr/>
          <p:nvPr/>
        </p:nvSpPr>
        <p:spPr>
          <a:xfrm>
            <a:off x="6611112" y="47777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&amp; secure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6611112" y="5116068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chunk size/passage count, filter by metadata, monitor latency/accuracy — and enforce document-level permissions &amp; data isolation (SPbD).</a:t>
            </a:r>
            <a:endParaRPr lang="en-US" sz="97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at Scale &amp; CI/CD Pipelines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6916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Agents, Assistants &amp; Gateways at Scale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4672" y="2139696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987552" y="204825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connect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987552" y="2386584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assistants + autonomous agents connected to KBs, skills/tools, and API gateways (rate limiting, auth, routing).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804672" y="2935224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284378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Skill/tool chaining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987552" y="3182112"/>
            <a:ext cx="4754880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and sequence pre-built and custom skills/tools for complex multi-step tasks.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804672" y="3579876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987552" y="348843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&amp; A/B testing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987552" y="3826764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multiple versions in parallel, route traffic for comparison, maintain rollback if a new version underperforms.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804672" y="4375404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" y="428396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&amp; troubleshoot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987552" y="4622292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metrics, error rates, satisfaction, response times — debug via traces/logs, iteratively refine prompts.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6172200" y="150876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7F8FA"/>
          </a:solidFill>
          <a:ln/>
        </p:spPr>
      </p:sp>
      <p:sp>
        <p:nvSpPr>
          <p:cNvPr id="22" name="Text 20"/>
          <p:cNvSpPr/>
          <p:nvPr/>
        </p:nvSpPr>
        <p:spPr>
          <a:xfrm>
            <a:off x="6428232" y="16916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Implementation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28232" y="2139696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4" name="Text 22"/>
          <p:cNvSpPr/>
          <p:nvPr/>
        </p:nvSpPr>
        <p:spPr>
          <a:xfrm>
            <a:off x="6611112" y="204825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6611112" y="2386584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 (build/test/deploy), artefacts (agents, tools, connections, model policies, KBs), promotion across Dev → Test → Prod.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6428232" y="2935224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7" name="Text 25"/>
          <p:cNvSpPr/>
          <p:nvPr/>
        </p:nvSpPr>
        <p:spPr>
          <a:xfrm>
            <a:off x="6611112" y="284378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6611112" y="3182112"/>
            <a:ext cx="4754880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Git-tracked ADK artefacts (plain YAML/Python) — branching strategy, change history.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6428232" y="3579876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0" name="Text 28"/>
          <p:cNvSpPr/>
          <p:nvPr/>
        </p:nvSpPr>
        <p:spPr>
          <a:xfrm>
            <a:off x="6611112" y="348843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6611112" y="3826764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integration, and conversation-flow validation (ADK Evaluation Framework) — must pass before promotion.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6428232" y="4375404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3" name="Text 31"/>
          <p:cNvSpPr/>
          <p:nvPr/>
        </p:nvSpPr>
        <p:spPr>
          <a:xfrm>
            <a:off x="6611112" y="428396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automation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6611112" y="4622292"/>
            <a:ext cx="4754880" cy="205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triggers, approval gates (human sign-off before Prod), rollback mechanisms.</a:t>
            </a:r>
            <a:endParaRPr lang="en-US" sz="970" dirty="0"/>
          </a:p>
        </p:txBody>
      </p:sp>
      <p:sp>
        <p:nvSpPr>
          <p:cNvPr id="35" name="Shape 33"/>
          <p:cNvSpPr/>
          <p:nvPr/>
        </p:nvSpPr>
        <p:spPr>
          <a:xfrm>
            <a:off x="6428232" y="5020056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6" name="Text 34"/>
          <p:cNvSpPr/>
          <p:nvPr/>
        </p:nvSpPr>
        <p:spPr>
          <a:xfrm>
            <a:off x="6611112" y="492861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secrets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6611112" y="5266944"/>
            <a:ext cx="47548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Jenkins/GitLab CI/Tekton integration; secrets managed via dedicated secrets stores — never hardcoded or shared in plaintext.</a:t>
            </a:r>
            <a:endParaRPr lang="en-US" sz="97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7 — Exam Tips &amp; Recap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11064240" cy="4663440"/>
          </a:xfrm>
          <a:prstGeom prst="roundRect">
            <a:avLst>
              <a:gd name="adj" fmla="val 1961"/>
            </a:avLst>
          </a:prstGeom>
          <a:solidFill>
            <a:srgbClr val="14213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EXAM TIPS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228600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23113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isolation exists to prevent untested changes/data from impacting production — not to increase cost or share live customer data across environments.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06324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300837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Knowledge-base relevance is driven by embedding model + vector DB + indexing/retrieval parameters — chunking strategy specifically affects ingestion quality.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384048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378561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automation with approval gates = controlled promotion with rollback available, never unchecked auto-deploy straight to Prod.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4617720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617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456285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in a pipeline: always a dedicated secrets manager / CI-native secret store — hardcoding or plaintext sharing is always the wrong answer.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Recap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645920"/>
            <a:ext cx="4754880" cy="4754880"/>
          </a:xfrm>
          <a:prstGeom prst="ellipse">
            <a:avLst/>
          </a:prstGeom>
          <a:solidFill>
            <a:srgbClr val="0D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Blueprint, At a Glance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576072"/>
          </a:xfrm>
          <a:prstGeom prst="roundRect">
            <a:avLst>
              <a:gd name="adj" fmla="val 9524"/>
            </a:avLst>
          </a:prstGeom>
          <a:solidFill>
            <a:srgbClr val="1B2647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99616"/>
            <a:ext cx="411480" cy="41148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996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417320"/>
            <a:ext cx="85039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 &amp; Core Concepts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966960" y="1417320"/>
            <a:ext cx="14630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13%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075688"/>
            <a:ext cx="11064240" cy="576072"/>
          </a:xfrm>
          <a:prstGeom prst="roundRect">
            <a:avLst>
              <a:gd name="adj" fmla="val 9524"/>
            </a:avLst>
          </a:prstGeom>
          <a:solidFill>
            <a:srgbClr val="1B2647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2157984"/>
            <a:ext cx="411480" cy="41148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1579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075688"/>
            <a:ext cx="85039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&amp; Assistant Integration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966960" y="2075688"/>
            <a:ext cx="14630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2734056"/>
            <a:ext cx="11064240" cy="576072"/>
          </a:xfrm>
          <a:prstGeom prst="roundRect">
            <a:avLst>
              <a:gd name="adj" fmla="val 9524"/>
            </a:avLst>
          </a:prstGeom>
          <a:solidFill>
            <a:srgbClr val="1B2647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2816352"/>
            <a:ext cx="411480" cy="41148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8163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2734056"/>
            <a:ext cx="85039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&amp; Orchestration Design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966960" y="2734056"/>
            <a:ext cx="14630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14%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392424"/>
            <a:ext cx="11064240" cy="576072"/>
          </a:xfrm>
          <a:prstGeom prst="roundRect">
            <a:avLst>
              <a:gd name="adj" fmla="val 9524"/>
            </a:avLst>
          </a:prstGeom>
          <a:solidFill>
            <a:srgbClr val="1B2647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3474720"/>
            <a:ext cx="411480" cy="41148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3392424"/>
            <a:ext cx="85039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Development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966960" y="3392424"/>
            <a:ext cx="14630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18%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4050792"/>
            <a:ext cx="11064240" cy="576072"/>
          </a:xfrm>
          <a:prstGeom prst="roundRect">
            <a:avLst>
              <a:gd name="adj" fmla="val 9524"/>
            </a:avLst>
          </a:prstGeom>
          <a:solidFill>
            <a:srgbClr val="1B2647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4133088"/>
            <a:ext cx="411480" cy="41148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1330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80160" y="4050792"/>
            <a:ext cx="85039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Management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966960" y="4050792"/>
            <a:ext cx="14630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14%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48640" y="4709160"/>
            <a:ext cx="11064240" cy="576072"/>
          </a:xfrm>
          <a:prstGeom prst="roundRect">
            <a:avLst>
              <a:gd name="adj" fmla="val 9524"/>
            </a:avLst>
          </a:prstGeom>
          <a:solidFill>
            <a:srgbClr val="1B2647"/>
          </a:solidFill>
          <a:ln/>
        </p:spPr>
      </p:sp>
      <p:sp>
        <p:nvSpPr>
          <p:cNvPr id="31" name="Shape 29"/>
          <p:cNvSpPr/>
          <p:nvPr/>
        </p:nvSpPr>
        <p:spPr>
          <a:xfrm>
            <a:off x="685800" y="4791456"/>
            <a:ext cx="411480" cy="41148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47914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280160" y="4709160"/>
            <a:ext cx="85039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Compliance &amp; Observability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966960" y="4709160"/>
            <a:ext cx="14630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11%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48640" y="5367528"/>
            <a:ext cx="11064240" cy="576072"/>
          </a:xfrm>
          <a:prstGeom prst="roundRect">
            <a:avLst>
              <a:gd name="adj" fmla="val 9524"/>
            </a:avLst>
          </a:prstGeom>
          <a:solidFill>
            <a:srgbClr val="1B2647"/>
          </a:solidFill>
          <a:ln/>
        </p:spPr>
      </p:sp>
      <p:sp>
        <p:nvSpPr>
          <p:cNvPr id="36" name="Shape 34"/>
          <p:cNvSpPr/>
          <p:nvPr/>
        </p:nvSpPr>
        <p:spPr>
          <a:xfrm>
            <a:off x="685800" y="5449824"/>
            <a:ext cx="411480" cy="41148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54498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280160" y="5367528"/>
            <a:ext cx="85039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Deployment, Scaling &amp; Resiliency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966960" y="5367528"/>
            <a:ext cx="14630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★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Rapid-Fire Glossary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17320"/>
            <a:ext cx="3630168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1472184"/>
            <a:ext cx="3392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667512" y="1700784"/>
            <a:ext cx="339242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LLM-driven entity that plans, reasons, and acts autonomously toward a goal.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4251960" y="1417320"/>
            <a:ext cx="363016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6E9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70832" y="1472184"/>
            <a:ext cx="3392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4370832" y="1700784"/>
            <a:ext cx="339242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designer-authored conversational flow of actions/intents.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7955280" y="1417320"/>
            <a:ext cx="3630168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/>
        </p:spPr>
      </p:sp>
      <p:sp>
        <p:nvSpPr>
          <p:cNvPr id="14" name="Text 12"/>
          <p:cNvSpPr/>
          <p:nvPr/>
        </p:nvSpPr>
        <p:spPr>
          <a:xfrm>
            <a:off x="8074152" y="1472184"/>
            <a:ext cx="3392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Collaborator Agent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8074152" y="1700784"/>
            <a:ext cx="339242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agent a parent/orchestrator is permitted to delegate sub-tasks to.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548640" y="2313432"/>
            <a:ext cx="363016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6E9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2368296"/>
            <a:ext cx="3392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Agent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667512" y="2596896"/>
            <a:ext cx="339242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hosted outside WXO's native runtime, integrated via A2A or similar.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4251960" y="2313432"/>
            <a:ext cx="3630168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/>
        </p:spPr>
      </p:sp>
      <p:sp>
        <p:nvSpPr>
          <p:cNvPr id="20" name="Text 18"/>
          <p:cNvSpPr/>
          <p:nvPr/>
        </p:nvSpPr>
        <p:spPr>
          <a:xfrm>
            <a:off x="4370832" y="2368296"/>
            <a:ext cx="3392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4370832" y="2596896"/>
            <a:ext cx="339242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protocol for agent interoperability — external agents configured via ADK only.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7955280" y="2313432"/>
            <a:ext cx="363016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6E9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74152" y="2368296"/>
            <a:ext cx="3392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8074152" y="2596896"/>
            <a:ext cx="339242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Pro-code toolchain (CLI, SDK, Dev Edition) for agents/tools/connections/KBs as code.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548640" y="3209544"/>
            <a:ext cx="3630168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" y="3264408"/>
            <a:ext cx="3392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Catalog</a:t>
            </a:r>
            <a:endParaRPr lang="en-US" sz="1030" dirty="0"/>
          </a:p>
        </p:txBody>
      </p:sp>
      <p:sp>
        <p:nvSpPr>
          <p:cNvPr id="27" name="Text 25"/>
          <p:cNvSpPr/>
          <p:nvPr/>
        </p:nvSpPr>
        <p:spPr>
          <a:xfrm>
            <a:off x="667512" y="3493008"/>
            <a:ext cx="339242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repository of prebuilt IBM &amp; partner agents/tools.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4251960" y="3209544"/>
            <a:ext cx="363016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6E9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264408"/>
            <a:ext cx="3392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</a:t>
            </a:r>
            <a:endParaRPr lang="en-US" sz="1030" dirty="0"/>
          </a:p>
        </p:txBody>
      </p:sp>
      <p:sp>
        <p:nvSpPr>
          <p:cNvPr id="30" name="Text 28"/>
          <p:cNvSpPr/>
          <p:nvPr/>
        </p:nvSpPr>
        <p:spPr>
          <a:xfrm>
            <a:off x="4370832" y="3493008"/>
            <a:ext cx="339242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layer registering multiple LLM/embedding providers and routing to them.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7955280" y="3209544"/>
            <a:ext cx="3630168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/>
        </p:spPr>
      </p:sp>
      <p:sp>
        <p:nvSpPr>
          <p:cNvPr id="32" name="Text 30"/>
          <p:cNvSpPr/>
          <p:nvPr/>
        </p:nvSpPr>
        <p:spPr>
          <a:xfrm>
            <a:off x="8074152" y="3264408"/>
            <a:ext cx="3392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Policy</a:t>
            </a:r>
            <a:endParaRPr lang="en-US" sz="1030" dirty="0"/>
          </a:p>
        </p:txBody>
      </p:sp>
      <p:sp>
        <p:nvSpPr>
          <p:cNvPr id="33" name="Text 31"/>
          <p:cNvSpPr/>
          <p:nvPr/>
        </p:nvSpPr>
        <p:spPr>
          <a:xfrm>
            <a:off x="8074152" y="3493008"/>
            <a:ext cx="339242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set governing default model, failover, and guardrails within the Gateway.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48640" y="4105656"/>
            <a:ext cx="363016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6E9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" y="4160520"/>
            <a:ext cx="3392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030" dirty="0"/>
          </a:p>
        </p:txBody>
      </p:sp>
      <p:sp>
        <p:nvSpPr>
          <p:cNvPr id="36" name="Text 34"/>
          <p:cNvSpPr/>
          <p:nvPr/>
        </p:nvSpPr>
        <p:spPr>
          <a:xfrm>
            <a:off x="667512" y="4389120"/>
            <a:ext cx="339242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standard for agents to call external tools/data via a consistent interface.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4251960" y="4105656"/>
            <a:ext cx="3630168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/>
        </p:spPr>
      </p:sp>
      <p:sp>
        <p:nvSpPr>
          <p:cNvPr id="38" name="Text 36"/>
          <p:cNvSpPr/>
          <p:nvPr/>
        </p:nvSpPr>
        <p:spPr>
          <a:xfrm>
            <a:off x="4370832" y="4160520"/>
            <a:ext cx="3392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ContextForge Gateway</a:t>
            </a:r>
            <a:endParaRPr lang="en-US" sz="1030" dirty="0"/>
          </a:p>
        </p:txBody>
      </p:sp>
      <p:sp>
        <p:nvSpPr>
          <p:cNvPr id="39" name="Text 37"/>
          <p:cNvSpPr/>
          <p:nvPr/>
        </p:nvSpPr>
        <p:spPr>
          <a:xfrm>
            <a:off x="4370832" y="4389120"/>
            <a:ext cx="339242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Proxy/registry combining MCP servers into governed virtual servers.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7955280" y="4105656"/>
            <a:ext cx="363016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6E9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74152" y="4160520"/>
            <a:ext cx="3392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Langflow</a:t>
            </a:r>
            <a:endParaRPr lang="en-US" sz="1030" dirty="0"/>
          </a:p>
        </p:txBody>
      </p:sp>
      <p:sp>
        <p:nvSpPr>
          <p:cNvPr id="42" name="Text 40"/>
          <p:cNvSpPr/>
          <p:nvPr/>
        </p:nvSpPr>
        <p:spPr>
          <a:xfrm>
            <a:off x="8074152" y="4389120"/>
            <a:ext cx="339242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LLM-app builder; flows exported as JSON, imported as WXO tools.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548640" y="5001768"/>
            <a:ext cx="3630168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/>
        </p:spPr>
      </p:sp>
      <p:sp>
        <p:nvSpPr>
          <p:cNvPr id="44" name="Text 42"/>
          <p:cNvSpPr/>
          <p:nvPr/>
        </p:nvSpPr>
        <p:spPr>
          <a:xfrm>
            <a:off x="667512" y="5056632"/>
            <a:ext cx="3392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endParaRPr lang="en-US" sz="1030" dirty="0"/>
          </a:p>
        </p:txBody>
      </p:sp>
      <p:sp>
        <p:nvSpPr>
          <p:cNvPr id="45" name="Text 43"/>
          <p:cNvSpPr/>
          <p:nvPr/>
        </p:nvSpPr>
        <p:spPr>
          <a:xfrm>
            <a:off x="667512" y="5285232"/>
            <a:ext cx="339242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LLM observability platform, natively integrated with the ADK.</a:t>
            </a:r>
            <a:endParaRPr lang="en-US" sz="860" dirty="0"/>
          </a:p>
        </p:txBody>
      </p:sp>
      <p:sp>
        <p:nvSpPr>
          <p:cNvPr id="46" name="Shape 44"/>
          <p:cNvSpPr/>
          <p:nvPr/>
        </p:nvSpPr>
        <p:spPr>
          <a:xfrm>
            <a:off x="4251960" y="5001768"/>
            <a:ext cx="363016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6E9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70832" y="5056632"/>
            <a:ext cx="3392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030" dirty="0"/>
          </a:p>
        </p:txBody>
      </p:sp>
      <p:sp>
        <p:nvSpPr>
          <p:cNvPr id="48" name="Text 46"/>
          <p:cNvSpPr/>
          <p:nvPr/>
        </p:nvSpPr>
        <p:spPr>
          <a:xfrm>
            <a:off x="4370832" y="5285232"/>
            <a:ext cx="339242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governing permitted actions per role.</a:t>
            </a:r>
            <a:endParaRPr lang="en-US" sz="860" dirty="0"/>
          </a:p>
        </p:txBody>
      </p:sp>
      <p:sp>
        <p:nvSpPr>
          <p:cNvPr id="49" name="Shape 47"/>
          <p:cNvSpPr/>
          <p:nvPr/>
        </p:nvSpPr>
        <p:spPr>
          <a:xfrm>
            <a:off x="7955280" y="5001768"/>
            <a:ext cx="3630168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/>
        </p:spPr>
      </p:sp>
      <p:sp>
        <p:nvSpPr>
          <p:cNvPr id="50" name="Text 48"/>
          <p:cNvSpPr/>
          <p:nvPr/>
        </p:nvSpPr>
        <p:spPr>
          <a:xfrm>
            <a:off x="8074152" y="5056632"/>
            <a:ext cx="3392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SPbD</a:t>
            </a:r>
            <a:endParaRPr lang="en-US" sz="1030" dirty="0"/>
          </a:p>
        </p:txBody>
      </p:sp>
      <p:sp>
        <p:nvSpPr>
          <p:cNvPr id="51" name="Text 49"/>
          <p:cNvSpPr/>
          <p:nvPr/>
        </p:nvSpPr>
        <p:spPr>
          <a:xfrm>
            <a:off x="8074152" y="5285232"/>
            <a:ext cx="339242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8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 by Design — controls embedded from the outset, not retrofitted.</a:t>
            </a:r>
            <a:endParaRPr lang="en-US" sz="860" dirty="0"/>
          </a:p>
        </p:txBody>
      </p:sp>
      <p:sp>
        <p:nvSpPr>
          <p:cNvPr id="52" name="Text 5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★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Practice-Exam Walkthrough — Tricky Ones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from Practice Sets 1 &amp; 2 — the questions candidates most often get wrong on a first pass.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7F8FA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1168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11680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1, Q3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1920240" y="1938528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NOT a core WXO capability?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2258568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"Native video rendering engine" — a fabricated distractor. Watch for options that sound plausible but were never mentioned in the objectives.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48640" y="2807208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7F8FA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94436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944368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1, Q24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1920240" y="2871216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blocks in a workflow are used for...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3191256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logic/transformations not covered by built-in components — not UI rendering or billing.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548640" y="3739896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7F8FA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87705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877056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2, Q12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1920240" y="3803904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construct supports agents from watsonx.ai?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4123944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explicitly incorporates watsonx.ai agents as a supported source — not the AI Gateway or Langflow alone.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548640" y="4672584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7F8FA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4809744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809744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2, Q26</a:t>
            </a:r>
            <a:endParaRPr lang="en-US" sz="870" dirty="0"/>
          </a:p>
        </p:txBody>
      </p:sp>
      <p:sp>
        <p:nvSpPr>
          <p:cNvPr id="26" name="Text 24"/>
          <p:cNvSpPr/>
          <p:nvPr/>
        </p:nvSpPr>
        <p:spPr>
          <a:xfrm>
            <a:off x="1920240" y="4736592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pre-built domain agent categories?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920240" y="5056632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and Sales prospecting are the specific categories called out in the objectives — memorise the named examples, not just the general idea.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548640" y="5605272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7F8FA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" y="5742432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742432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2, Q43</a:t>
            </a:r>
            <a:endParaRPr lang="en-US" sz="870" dirty="0"/>
          </a:p>
        </p:txBody>
      </p:sp>
      <p:sp>
        <p:nvSpPr>
          <p:cNvPr id="31" name="Text 29"/>
          <p:cNvSpPr/>
          <p:nvPr/>
        </p:nvSpPr>
        <p:spPr>
          <a:xfrm>
            <a:off x="1920240" y="5669280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AI Gateway use case?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920240" y="5989320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governance/routing across models &amp; providers — the Gateway's core value proposition, tested from multiple angles.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Exam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★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Distractor Patterns to Watch For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both 60-question practice sets, wrong answers cluster into a few recognizable shapes. Spot the pattern and you can often eliminate 2 of 4 options before you've fully read the question.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11064240" cy="795528"/>
          </a:xfrm>
          <a:prstGeom prst="roundRect">
            <a:avLst>
              <a:gd name="adj" fmla="val 8046"/>
            </a:avLst>
          </a:prstGeom>
          <a:solidFill>
            <a:srgbClr val="F7F8FA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212848"/>
            <a:ext cx="457200" cy="457200"/>
          </a:xfrm>
          <a:prstGeom prst="ellipse">
            <a:avLst/>
          </a:prstGeom>
          <a:solidFill>
            <a:srgbClr val="F4B4A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13055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06240" y="2130552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"Always," "never," "only," "eliminates," "no longer needed" — Orchestrate's design philosophy is almost always about balance, governance, and context-appropriate controls, not blanket rules.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548640" y="2944368"/>
            <a:ext cx="11064240" cy="795528"/>
          </a:xfrm>
          <a:prstGeom prst="roundRect">
            <a:avLst>
              <a:gd name="adj" fmla="val 8046"/>
            </a:avLst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099816"/>
            <a:ext cx="457200" cy="457200"/>
          </a:xfrm>
          <a:prstGeom prst="ellipse">
            <a:avLst/>
          </a:prstGeom>
          <a:solidFill>
            <a:srgbClr val="F4B4A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099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0175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 features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06240" y="301752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Plausible-sounding but invented capabilities (e.g., "native video rendering engine") that were never mentioned in the objectives.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548640" y="3831336"/>
            <a:ext cx="11064240" cy="795528"/>
          </a:xfrm>
          <a:prstGeom prst="roundRect">
            <a:avLst>
              <a:gd name="adj" fmla="val 8046"/>
            </a:avLst>
          </a:prstGeom>
          <a:solidFill>
            <a:srgbClr val="F7F8FA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986784"/>
            <a:ext cx="457200" cy="457200"/>
          </a:xfrm>
          <a:prstGeom prst="ellipse">
            <a:avLst/>
          </a:prstGeom>
          <a:solidFill>
            <a:srgbClr val="F4B4AC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986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90448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construct swapped 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06240" y="3904488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concept, wrong tool — e.g., attributing an AI Gateway behaviour to the Agent Catalog, or a Model Policy behaviour to RBAC.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548640" y="4718304"/>
            <a:ext cx="11064240" cy="795528"/>
          </a:xfrm>
          <a:prstGeom prst="roundRect">
            <a:avLst>
              <a:gd name="adj" fmla="val 8046"/>
            </a:avLst>
          </a:prstGeom>
          <a:solidFill>
            <a:srgbClr val="FFFFFF"/>
          </a:solidFill>
          <a:ln w="12700">
            <a:solidFill>
              <a:srgbClr val="E6E9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873752"/>
            <a:ext cx="457200" cy="457200"/>
          </a:xfrm>
          <a:prstGeom prst="ellipse">
            <a:avLst/>
          </a:prstGeom>
          <a:solidFill>
            <a:srgbClr val="F4B4AC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873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" y="4791456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a required step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206240" y="4791456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that skip validation, testing, or approval steps (e.g., "deploy directly to Prod with no checks") are reliably wrong on this exam.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548640" y="5605272"/>
            <a:ext cx="11064240" cy="795528"/>
          </a:xfrm>
          <a:prstGeom prst="roundRect">
            <a:avLst>
              <a:gd name="adj" fmla="val 8046"/>
            </a:avLst>
          </a:prstGeom>
          <a:solidFill>
            <a:srgbClr val="F7F8FA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" y="5760720"/>
            <a:ext cx="457200" cy="457200"/>
          </a:xfrm>
          <a:prstGeom prst="ellipse">
            <a:avLst/>
          </a:prstGeom>
          <a:solidFill>
            <a:srgbClr val="F4B4AC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760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71600" y="5678424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as an afterthought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206240" y="5678424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option implying controls are added only after an incident, or only in Prod, contradicts SPbD and governance-by-lifecycle principles.</a:t>
            </a:r>
            <a:endParaRPr lang="en-US" sz="103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Exam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★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 Guide &amp; Self-Assessment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7160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4F9F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37160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54–60 / 60  (90%+)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371600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Exam-ready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21408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FF4E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12140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45–53 / 60  (75–89%)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2121408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— review missed domains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7121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CEAE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871216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Below 45 / 60  (&lt;75%)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2871216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the corresponding task objectives before testing again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the Combined Score Tracker (both practice sets) to spot patterns</a:t>
            </a:r>
            <a:endParaRPr lang="en-US" sz="14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33088"/>
          <a:ext cx="11064240" cy="214884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4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4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5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86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Area?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 1 (8 Qs)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__/8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__/8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 2 (12 Qs)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__/12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__/12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 3 (8 Qs)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__/8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__/8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 4 (11 Qs)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__/11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__/11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 5 (8 Qs)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__/8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__/8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 6 (7 Qs)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__/7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__/7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 7 (6 Qs)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__/6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__/6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Exam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★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88720" y="621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Exam-Day Strategy &amp; Next Steps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109960" cy="0"/>
          </a:xfrm>
          <a:prstGeom prst="line">
            <a:avLst/>
          </a:prstGeom>
          <a:noFill/>
          <a:ln w="12700">
            <a:solidFill>
              <a:srgbClr val="E6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6459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Book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4672" y="2093976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987552" y="2002536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 full pass of the study guide, applying IBM's 3 framing questions to every task.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804672" y="2679192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987552" y="2587752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the ADK CLI patterns hands-on in a Developer Edition instance where possible.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804672" y="3264408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987552" y="317296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official IBM sample test.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04672" y="3666744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987552" y="3575304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official IBM assessment test — review performance BY SECTION, not just overall score.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804672" y="4251960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8" name="Text 16"/>
          <p:cNvSpPr/>
          <p:nvPr/>
        </p:nvSpPr>
        <p:spPr>
          <a:xfrm>
            <a:off x="987552" y="4160520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remaining time on your two weakest sections — prioritise Sections 2 &amp; 4 given their 38% combined weight.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172200" y="146304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7F8FA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16459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Day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28232" y="2093976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2" name="Text 20"/>
          <p:cNvSpPr/>
          <p:nvPr/>
        </p:nvSpPr>
        <p:spPr>
          <a:xfrm>
            <a:off x="6611112" y="200253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schedule at home.pearsonvue.com/ibm.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6428232" y="2496312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4" name="Text 22"/>
          <p:cNvSpPr/>
          <p:nvPr/>
        </p:nvSpPr>
        <p:spPr>
          <a:xfrm>
            <a:off x="6611112" y="2404872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each question fully before looking at the options — watch for absolutes ("always," "never," "only").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428232" y="3081528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6" name="Text 24"/>
          <p:cNvSpPr/>
          <p:nvPr/>
        </p:nvSpPr>
        <p:spPr>
          <a:xfrm>
            <a:off x="6611112" y="2990088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sequencing questions, mentally rebuild the correct order rather than pattern-matching an option that merely sounds right.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6428232" y="3666744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8" name="Text 26"/>
          <p:cNvSpPr/>
          <p:nvPr/>
        </p:nvSpPr>
        <p:spPr>
          <a:xfrm>
            <a:off x="6611112" y="3575304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term is unfamiliar, default to the option describing governance, standardisation, or business value — that's the platform's consistent design philosophy.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6428232" y="4251960"/>
            <a:ext cx="73152" cy="7315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0" name="Text 28"/>
          <p:cNvSpPr/>
          <p:nvPr/>
        </p:nvSpPr>
        <p:spPr>
          <a:xfrm>
            <a:off x="6611112" y="4160520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the assessment can be retaken ($30/attempt) — a weak score is a signal to revisit documentation, not just retry blind.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C1000-207 Certification Review  ·  i3 Academy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1597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645920"/>
            <a:ext cx="4754880" cy="4754880"/>
          </a:xfrm>
          <a:prstGeom prst="ellipse">
            <a:avLst/>
          </a:prstGeom>
          <a:solidFill>
            <a:srgbClr val="0D1628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937760"/>
            <a:ext cx="4206240" cy="4206240"/>
          </a:xfrm>
          <a:prstGeom prst="ellipse">
            <a:avLst/>
          </a:prstGeom>
          <a:solidFill>
            <a:srgbClr val="0D162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now covered all 7 domains.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651760"/>
            <a:ext cx="10241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luck on the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C1000-207 exam.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943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Academy — Certification Readiness Series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Technologies Ltd, Waumini House, Westlands, Nairobi, Kenya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6843</Words>
  <Application>Microsoft Office PowerPoint</Application>
  <PresentationFormat>Widescreen</PresentationFormat>
  <Paragraphs>900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Philip Mukiti</cp:lastModifiedBy>
  <cp:revision>1</cp:revision>
  <dcterms:created xsi:type="dcterms:W3CDTF">2026-08-08T14:22:31Z</dcterms:created>
  <dcterms:modified xsi:type="dcterms:W3CDTF">2026-08-08T14:27:47Z</dcterms:modified>
</cp:coreProperties>
</file>