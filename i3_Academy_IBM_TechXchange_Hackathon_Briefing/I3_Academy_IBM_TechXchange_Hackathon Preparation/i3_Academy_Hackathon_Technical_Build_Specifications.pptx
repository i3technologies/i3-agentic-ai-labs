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B2C4F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B2C4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i3 ACADEMY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Silver Business Partner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Build Specifications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Reviewed Edition — Innovation Layer &amp; 12 Project Concepts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TechXchange 2026 — Pre-Conference Dev Day Hackathon  •  Build with Purpose using IBM Bob 2.0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892040"/>
            <a:ext cx="219456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074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i3 Academy Bootcamp Team  |  August 28–30,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THIS DECK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77724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7C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5727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Alignment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9659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four scoring criteria map onto this document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77724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7C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08760" y="24871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Innovation Layer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28803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reusable principles + human approval gates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77724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29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7C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08760" y="34015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Project Concepts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37947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capability mapping, metric, and innovation edge for each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77724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43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7C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43159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 Recommendations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4709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and the strongest concepts by judge appeal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257800"/>
            <a:ext cx="77724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257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7C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08760" y="52303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Additions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08760" y="56235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checklist, seed repo, and a bonus 13th concept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 |  IBM TechXchange 2026 Hackathon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REMINDER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Judging Alignment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specification is scoped against the same four criteria — each one maps to a specific section of its build plan.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286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7C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pts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&amp; Feasibility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 Breakdown and Build Plan are scoped to actually finish in the 48-hour window.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56432" y="205740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39312" y="2286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pts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39312" y="2880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&amp; Efficiency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39312" y="36118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project's Measurable Impact Metric is the number to have ready by Day 2.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64224" y="205740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47104" y="2286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E44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pts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547104" y="2880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Usability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47104" y="36118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Script sequences the walkthrough for judges.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272016" y="205740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54896" y="2286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pts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454896" y="2880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&amp; Innovation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54896" y="36118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Bob 2.0 Capability Mapping — plus each project's Innovation Edge — shows genuine, non-trivial use of Agent Mode, Subagents, and Document Understanding.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 |  IBM TechXchange 2026 Hackathon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FRAMEWORK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Innovation Layer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Autonomous Engineering — a reusable set of principles that applies to any of the twelve projects with minimal extra build time.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INNOVATION LAYER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Universal Principles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49047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Before Action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074920" y="1490472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traces to a specific document, commit, log line, or test result — never the model's judgement alone.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35915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&amp; Uncertainty Scoring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074920" y="2359152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report a confidence score and flag conflicting evidence rather than one flat answer.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22783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074920" y="3227832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are tiered by risk so autonomy scales with how reversible the action is.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409651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Specialist Agents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074920" y="4096512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split investigation by domain rather than one agent context-switching across concerns.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96519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Outcome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074920" y="4965192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output ships without a verification step — a test run, a re-check against source, or a sandboxed dry run.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 |  IBM TechXchange 2026 Hackathon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INNOVATION LAYER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Approval Gates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every project's autonomy level into three tiers rather than deciding it ad hoc per feature.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331720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3134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Permission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and reports automatically.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343400"/>
            <a:ext cx="306324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4805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7548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comment posted directly to a PR.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34256" y="205740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2331720"/>
            <a:ext cx="411480" cy="41148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6" name="Text 14"/>
          <p:cNvSpPr/>
          <p:nvPr/>
        </p:nvSpPr>
        <p:spPr>
          <a:xfrm>
            <a:off x="5157216" y="23134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YELLOW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08576" y="29718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Permission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08576" y="32461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the action, holds for one-click approval.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08576" y="4343400"/>
            <a:ext cx="306324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44805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08576" y="47548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generated patch applied in a sandbox branch, awaiting merge approval.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19872" y="205740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94192" y="233172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8942832" y="23134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94192" y="29718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Permission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94192" y="32461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only — a human must explicitly approve before anything executes.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394192" y="4343400"/>
            <a:ext cx="306324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94192" y="44805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94192" y="47548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Security-patch merge; production rollback.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 |  IBM TechXchange 2026 Hackathon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INNOVATION LAYER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Architecture (Optional, Time-Permitting)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84832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05740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Context Bus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shared vector store / message queue so Projects 01, 05, 07, and 11 can reuse one indexed corpus instead of re-ingesting it separately.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084832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995160" y="205740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Harness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6060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pytest/jest suite scoring any agent run on grounding accuracy, tool-use correctness, and session coherence — doubles as submission evidence.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416552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38912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9377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fallback path — a smaller local model, or chunked retrieval with priority scoring — for when Bob 2.0 is rate-limited or a repo is very large.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416052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4416552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438912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Guardrails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49377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before sending code or tickets to Bob 2.0, and audit logging for every agent action — especially the patch-appliers in Projects 03 and 08.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 |  IBM TechXchange 2026 Hackathon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ARCHITECT-LEVEL BUILD PLANS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Project Concepts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below is buildable within 48 hours by a team of up to five, using off-the-shelf APIs and Bob 2.0's native Agent Mode, Subagents, and Document Understanding.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Twelve Concepts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204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563624"/>
            <a:ext cx="502920" cy="502920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563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2402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25880" y="14904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Onboarding Agent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42816" y="1417320"/>
            <a:ext cx="35204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7408" y="1563624"/>
            <a:ext cx="502920" cy="50292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2" name="Text 10"/>
          <p:cNvSpPr/>
          <p:nvPr/>
        </p:nvSpPr>
        <p:spPr>
          <a:xfrm>
            <a:off x="4407408" y="1563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0056" y="22402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0056" y="14904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 Review Assistant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36992" y="1417320"/>
            <a:ext cx="35204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01584" y="1563624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8101584" y="1563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14232" y="22402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714232" y="14904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Bug-to-Fix Debugging Agent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715768"/>
            <a:ext cx="35204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2862072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2862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35387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325880" y="2788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Generator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42816" y="2715768"/>
            <a:ext cx="35204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07408" y="2862072"/>
            <a:ext cx="502920" cy="50292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27" name="Text 25"/>
          <p:cNvSpPr/>
          <p:nvPr/>
        </p:nvSpPr>
        <p:spPr>
          <a:xfrm>
            <a:off x="4407408" y="2862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0056" y="35387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0056" y="2788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Docs Recovery Agent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936992" y="2715768"/>
            <a:ext cx="35204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01584" y="2862072"/>
            <a:ext cx="502920" cy="502920"/>
          </a:xfrm>
          <a:prstGeom prst="ellipse">
            <a:avLst/>
          </a:prstGeom>
          <a:solidFill>
            <a:srgbClr val="1B2C4F"/>
          </a:solidFill>
          <a:ln/>
        </p:spPr>
      </p:sp>
      <p:sp>
        <p:nvSpPr>
          <p:cNvPr id="32" name="Text 30"/>
          <p:cNvSpPr/>
          <p:nvPr/>
        </p:nvSpPr>
        <p:spPr>
          <a:xfrm>
            <a:off x="8101584" y="2862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714232" y="35387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B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&amp; DEPLOYMENT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714232" y="2788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Readiness Checker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014216"/>
            <a:ext cx="35204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3232" y="4160520"/>
            <a:ext cx="502920" cy="502920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37" name="Text 35"/>
          <p:cNvSpPr/>
          <p:nvPr/>
        </p:nvSpPr>
        <p:spPr>
          <a:xfrm>
            <a:off x="713232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325880" y="483717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325880" y="40873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Onboarding Chatbot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242816" y="4014216"/>
            <a:ext cx="35204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407408" y="4160520"/>
            <a:ext cx="502920" cy="50292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42" name="Text 40"/>
          <p:cNvSpPr/>
          <p:nvPr/>
        </p:nvSpPr>
        <p:spPr>
          <a:xfrm>
            <a:off x="4407408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20056" y="483717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020056" y="40873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Vulnerability Patch Agent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936992" y="4014216"/>
            <a:ext cx="35204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101584" y="416052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7" name="Text 45"/>
          <p:cNvSpPr/>
          <p:nvPr/>
        </p:nvSpPr>
        <p:spPr>
          <a:xfrm>
            <a:off x="8101584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714232" y="483717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714232" y="40873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 Diagnosis Agent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48640" y="5312664"/>
            <a:ext cx="35204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13232" y="5458968"/>
            <a:ext cx="502920" cy="50292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52" name="Text 50"/>
          <p:cNvSpPr/>
          <p:nvPr/>
        </p:nvSpPr>
        <p:spPr>
          <a:xfrm>
            <a:off x="713232" y="5458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325880" y="613562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325880" y="5385816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Multi-Repo Dependency Upgrade Assistant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242816" y="5312664"/>
            <a:ext cx="35204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407408" y="5458968"/>
            <a:ext cx="502920" cy="50292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57" name="Text 55"/>
          <p:cNvSpPr/>
          <p:nvPr/>
        </p:nvSpPr>
        <p:spPr>
          <a:xfrm>
            <a:off x="4407408" y="5458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020056" y="613562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020056" y="5385816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Postmortem Generator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936992" y="5312664"/>
            <a:ext cx="35204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8101584" y="5458968"/>
            <a:ext cx="502920" cy="502920"/>
          </a:xfrm>
          <a:prstGeom prst="ellipse">
            <a:avLst/>
          </a:prstGeom>
          <a:solidFill>
            <a:srgbClr val="1B2C4F"/>
          </a:solidFill>
          <a:ln/>
        </p:spPr>
      </p:sp>
      <p:sp>
        <p:nvSpPr>
          <p:cNvPr id="62" name="Text 60"/>
          <p:cNvSpPr/>
          <p:nvPr/>
        </p:nvSpPr>
        <p:spPr>
          <a:xfrm>
            <a:off x="8101584" y="5458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714232" y="613562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B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&amp; DEPLOYMENT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714232" y="5385816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Health &amp; Rollback Advisor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 |  IBM TechXchange 2026 Hackathon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63040" y="146304"/>
            <a:ext cx="7863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Codebase Onboarding Agent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646920" y="347472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0D7C8F"/>
          </a:solidFill>
          <a:ln/>
        </p:spPr>
      </p:sp>
      <p:sp>
        <p:nvSpPr>
          <p:cNvPr id="7" name="Text 5"/>
          <p:cNvSpPr/>
          <p:nvPr/>
        </p:nvSpPr>
        <p:spPr>
          <a:xfrm>
            <a:off x="9646920" y="3474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6720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the repo, wiki, tickets, and docs. Agent Mode sequences a role-specific ramp-up plan while Subagents deep-dive backend, frontend, and infra in parallel.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2.0 CAPABILITY MAPPING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429000"/>
            <a:ext cx="146304" cy="146304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310128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146304" cy="146304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3749040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306824"/>
            <a:ext cx="146304" cy="146304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4187952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4837176"/>
            <a:ext cx="672084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992624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5266944"/>
            <a:ext cx="6263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commit / first PR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452360" y="1325880"/>
            <a:ext cx="4251960" cy="5074920"/>
          </a:xfrm>
          <a:prstGeom prst="roundRect">
            <a:avLst>
              <a:gd name="adj" fmla="val 1720"/>
            </a:avLst>
          </a:prstGeom>
          <a:solidFill>
            <a:srgbClr val="14213D"/>
          </a:solidFill>
          <a:ln/>
        </p:spPr>
      </p:sp>
      <p:sp>
        <p:nvSpPr>
          <p:cNvPr id="21" name="Shape 19"/>
          <p:cNvSpPr/>
          <p:nvPr/>
        </p:nvSpPr>
        <p:spPr>
          <a:xfrm>
            <a:off x="7726680" y="1600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77266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48472" y="16276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EDGE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48472" y="19202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Wow Factor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26680" y="2377440"/>
            <a:ext cx="3703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dependency graph, color-coded by churn, plus an adaptive path from a 2-minute skill assessment.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 |  IBM TechXchange 2026 Hackathon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63040" y="146304"/>
            <a:ext cx="7863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PR Review Assistant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646920" y="347472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/>
        </p:spPr>
      </p:sp>
      <p:sp>
        <p:nvSpPr>
          <p:cNvPr id="7" name="Text 5"/>
          <p:cNvSpPr/>
          <p:nvPr/>
        </p:nvSpPr>
        <p:spPr>
          <a:xfrm>
            <a:off x="9646920" y="3474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6720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Subagents — Style, Security, Coverage — scan a PR diff concurrently. A Merge Agent posts one structured, deduplicated review comment.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2.0 CAPABILITY MAPPING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429000"/>
            <a:ext cx="146304" cy="146304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310128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146304" cy="146304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3749040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306824"/>
            <a:ext cx="146304" cy="146304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4187952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4837176"/>
            <a:ext cx="672084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992624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5266944"/>
            <a:ext cx="6263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turnaround time &amp; passes to merge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452360" y="1325880"/>
            <a:ext cx="4251960" cy="5074920"/>
          </a:xfrm>
          <a:prstGeom prst="roundRect">
            <a:avLst>
              <a:gd name="adj" fmla="val 1720"/>
            </a:avLst>
          </a:prstGeom>
          <a:solidFill>
            <a:srgbClr val="14213D"/>
          </a:solidFill>
          <a:ln/>
        </p:spPr>
      </p:sp>
      <p:sp>
        <p:nvSpPr>
          <p:cNvPr id="21" name="Shape 19"/>
          <p:cNvSpPr/>
          <p:nvPr/>
        </p:nvSpPr>
        <p:spPr>
          <a:xfrm>
            <a:off x="7726680" y="1600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77266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48472" y="16276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EDGE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48472" y="19202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Wow Factor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26680" y="2377440"/>
            <a:ext cx="3703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4th subagent — Business Logic Reviewer — checks the PR against its own linked ticket.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 |  IBM TechXchange 2026 Hackathon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63040" y="146304"/>
            <a:ext cx="7863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Bug-to-Fix Debugging Agent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646920" y="347472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9646920" y="3474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6720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Agent Mode session: reproduce the failure, trace root cause, patch, and verify — with a full auditable session trail.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2.0 CAPABILITY MAPPING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42900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310128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3749040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306824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4187952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Reporting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4837176"/>
            <a:ext cx="672084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992624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5266944"/>
            <a:ext cx="6263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bug report to verified fix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452360" y="1325880"/>
            <a:ext cx="4251960" cy="5074920"/>
          </a:xfrm>
          <a:prstGeom prst="roundRect">
            <a:avLst>
              <a:gd name="adj" fmla="val 1720"/>
            </a:avLst>
          </a:prstGeom>
          <a:solidFill>
            <a:srgbClr val="14213D"/>
          </a:solidFill>
          <a:ln/>
        </p:spPr>
      </p:sp>
      <p:sp>
        <p:nvSpPr>
          <p:cNvPr id="21" name="Shape 19"/>
          <p:cNvSpPr/>
          <p:nvPr/>
        </p:nvSpPr>
        <p:spPr>
          <a:xfrm>
            <a:off x="7726680" y="1600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77266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48472" y="16276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EDGE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48472" y="19202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Wow Factor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26680" y="2377440"/>
            <a:ext cx="3703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root-cause hypotheses with probabilities, plus a git-bisect drift timeline.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 |  IBM TechXchange 2026 Hackathon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63040" y="146304"/>
            <a:ext cx="7863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Coverage Generator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646920" y="347472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9646920" y="3474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6720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codebase is partitioned by module. A Subagent per module generates tests in parallel; Agent Mode verifies they're meaningful, not just passing.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2.0 CAPABILITY MAPPING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429000"/>
            <a:ext cx="146304" cy="14630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310128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146304" cy="14630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3749040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306824"/>
            <a:ext cx="146304" cy="14630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4187952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4837176"/>
            <a:ext cx="672084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992624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5266944"/>
            <a:ext cx="6263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Coverage-point increase vs. manual baseline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452360" y="1325880"/>
            <a:ext cx="4251960" cy="5074920"/>
          </a:xfrm>
          <a:prstGeom prst="roundRect">
            <a:avLst>
              <a:gd name="adj" fmla="val 1720"/>
            </a:avLst>
          </a:prstGeom>
          <a:solidFill>
            <a:srgbClr val="14213D"/>
          </a:solidFill>
          <a:ln/>
        </p:spPr>
      </p:sp>
      <p:sp>
        <p:nvSpPr>
          <p:cNvPr id="21" name="Shape 19"/>
          <p:cNvSpPr/>
          <p:nvPr/>
        </p:nvSpPr>
        <p:spPr>
          <a:xfrm>
            <a:off x="7726680" y="1600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77266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48472" y="16276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EDGE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48472" y="19202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Wow Factor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26680" y="2377440"/>
            <a:ext cx="3703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testing proves the generated tests actually catch bugs, not just execute code.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 |  IBM TechXchange 2026 Hackathon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63040" y="146304"/>
            <a:ext cx="7863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Docs Recovery Agent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646920" y="347472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/>
        </p:spPr>
      </p:sp>
      <p:sp>
        <p:nvSpPr>
          <p:cNvPr id="7" name="Text 5"/>
          <p:cNvSpPr/>
          <p:nvPr/>
        </p:nvSpPr>
        <p:spPr>
          <a:xfrm>
            <a:off x="9646920" y="3474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6720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reconciles tickets, design docs, and chat exports into one current runbook — flagging contradictions instead of guessing.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2.0 CAPABILITY MAPPING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429000"/>
            <a:ext cx="146304" cy="146304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310128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146304" cy="146304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3749040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398264"/>
            <a:ext cx="672084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553712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4828032"/>
            <a:ext cx="6263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Maintainer comprehension time saved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52360" y="1325880"/>
            <a:ext cx="4251960" cy="5074920"/>
          </a:xfrm>
          <a:prstGeom prst="roundRect">
            <a:avLst>
              <a:gd name="adj" fmla="val 1720"/>
            </a:avLst>
          </a:prstGeom>
          <a:solidFill>
            <a:srgbClr val="14213D"/>
          </a:solidFill>
          <a:ln/>
        </p:spPr>
      </p:sp>
      <p:sp>
        <p:nvSpPr>
          <p:cNvPr id="19" name="Shape 17"/>
          <p:cNvSpPr/>
          <p:nvPr/>
        </p:nvSpPr>
        <p:spPr>
          <a:xfrm>
            <a:off x="7726680" y="1600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77266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48472" y="16276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EDGE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48472" y="19202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Wow Factor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26680" y="2377440"/>
            <a:ext cx="3703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code-to-doc drift detector validates every runbook claim against the live codebase.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 |  IBM TechXchange 2026 Hackathon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63040" y="146304"/>
            <a:ext cx="7863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Readiness Checker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646920" y="347472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B2C4F"/>
          </a:solidFill>
          <a:ln/>
        </p:spPr>
      </p:sp>
      <p:sp>
        <p:nvSpPr>
          <p:cNvPr id="7" name="Text 5"/>
          <p:cNvSpPr/>
          <p:nvPr/>
        </p:nvSpPr>
        <p:spPr>
          <a:xfrm>
            <a:off x="9646920" y="3474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&amp; DEPLOYMENT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6720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works a real release checklist item-by-item against live repo and CI state, then drafts the release notes.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2.0 CAPABILITY MAPPING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429000"/>
            <a:ext cx="146304" cy="146304"/>
          </a:xfrm>
          <a:prstGeom prst="ellipse">
            <a:avLst/>
          </a:prstGeom>
          <a:solidFill>
            <a:srgbClr val="1B2C4F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310128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146304" cy="146304"/>
          </a:xfrm>
          <a:prstGeom prst="ellipse">
            <a:avLst/>
          </a:prstGeom>
          <a:solidFill>
            <a:srgbClr val="1B2C4F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3749040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398264"/>
            <a:ext cx="672084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553712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4828032"/>
            <a:ext cx="6263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issues caught before deployment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52360" y="1325880"/>
            <a:ext cx="4251960" cy="5074920"/>
          </a:xfrm>
          <a:prstGeom prst="roundRect">
            <a:avLst>
              <a:gd name="adj" fmla="val 1720"/>
            </a:avLst>
          </a:prstGeom>
          <a:solidFill>
            <a:srgbClr val="14213D"/>
          </a:solidFill>
          <a:ln/>
        </p:spPr>
      </p:sp>
      <p:sp>
        <p:nvSpPr>
          <p:cNvPr id="19" name="Shape 17"/>
          <p:cNvSpPr/>
          <p:nvPr/>
        </p:nvSpPr>
        <p:spPr>
          <a:xfrm>
            <a:off x="7726680" y="1600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77266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48472" y="16276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EDGE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48472" y="19202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Wow Factor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26680" y="2377440"/>
            <a:ext cx="3703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0–100 release risk score plus a “what's actually blocking this” summary.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 |  IBM TechXchange 2026 Hackathon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63040" y="146304"/>
            <a:ext cx="7863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Onboarding Chatbot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646920" y="347472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0D7C8F"/>
          </a:solidFill>
          <a:ln/>
        </p:spPr>
      </p:sp>
      <p:sp>
        <p:nvSpPr>
          <p:cNvPr id="7" name="Text 5"/>
          <p:cNvSpPr/>
          <p:nvPr/>
        </p:nvSpPr>
        <p:spPr>
          <a:xfrm>
            <a:off x="9646920" y="3474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6720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conversational front-end over the project corpus, chaining follow-up actions like pulling the real referenced file.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2.0 CAPABILITY MAPPING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429000"/>
            <a:ext cx="146304" cy="146304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310128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146304" cy="146304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3749040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398264"/>
            <a:ext cx="672084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553712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4828032"/>
            <a:ext cx="6263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resolved without escalation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52360" y="1325880"/>
            <a:ext cx="4251960" cy="5074920"/>
          </a:xfrm>
          <a:prstGeom prst="roundRect">
            <a:avLst>
              <a:gd name="adj" fmla="val 1720"/>
            </a:avLst>
          </a:prstGeom>
          <a:solidFill>
            <a:srgbClr val="14213D"/>
          </a:solidFill>
          <a:ln/>
        </p:spPr>
      </p:sp>
      <p:sp>
        <p:nvSpPr>
          <p:cNvPr id="19" name="Shape 17"/>
          <p:cNvSpPr/>
          <p:nvPr/>
        </p:nvSpPr>
        <p:spPr>
          <a:xfrm>
            <a:off x="7726680" y="1600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77266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48472" y="16276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EDGE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48472" y="19202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Wow Factor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26680" y="2377440"/>
            <a:ext cx="3703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mode: proactive suggestions plus a per-user knowledge-progress map.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 |  IBM TechXchange 2026 Hackathon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63040" y="146304"/>
            <a:ext cx="7863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Vulnerability Patch Agent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646920" y="347472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/>
        </p:spPr>
      </p:sp>
      <p:sp>
        <p:nvSpPr>
          <p:cNvPr id="7" name="Text 5"/>
          <p:cNvSpPr/>
          <p:nvPr/>
        </p:nvSpPr>
        <p:spPr>
          <a:xfrm>
            <a:off x="9646920" y="3474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6720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Subagents scan dependencies and source for CVEs and insecure patterns; Agent Mode drafts and tests a sandboxed patch.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2.0 CAPABILITY MAPPING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429000"/>
            <a:ext cx="146304" cy="146304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310128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146304" cy="146304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3749040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398264"/>
            <a:ext cx="672084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553712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4828032"/>
            <a:ext cx="6263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found &amp; time to patch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52360" y="1325880"/>
            <a:ext cx="4251960" cy="5074920"/>
          </a:xfrm>
          <a:prstGeom prst="roundRect">
            <a:avLst>
              <a:gd name="adj" fmla="val 1720"/>
            </a:avLst>
          </a:prstGeom>
          <a:solidFill>
            <a:srgbClr val="14213D"/>
          </a:solidFill>
          <a:ln/>
        </p:spPr>
      </p:sp>
      <p:sp>
        <p:nvSpPr>
          <p:cNvPr id="19" name="Shape 17"/>
          <p:cNvSpPr/>
          <p:nvPr/>
        </p:nvSpPr>
        <p:spPr>
          <a:xfrm>
            <a:off x="7726680" y="1600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77266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48472" y="16276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EDGE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48472" y="19202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Wow Factor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26680" y="2377440"/>
            <a:ext cx="3703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simulation — a PoC attack shown blocked, before vs. after the patch.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 |  IBM TechXchange 2026 Hackathon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63040" y="146304"/>
            <a:ext cx="7863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Flaky Test Diagnosis Agent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646920" y="347472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9646920" y="3474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6720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reruns a target suite, correlating intermittent failures with recent code changes and environment differences.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2.0 CAPABILITY MAPPING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429000"/>
            <a:ext cx="146304" cy="14630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310128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146304" cy="14630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3749040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398264"/>
            <a:ext cx="672084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553712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4828032"/>
            <a:ext cx="6263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Reruns needed to isolate root cause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52360" y="1325880"/>
            <a:ext cx="4251960" cy="5074920"/>
          </a:xfrm>
          <a:prstGeom prst="roundRect">
            <a:avLst>
              <a:gd name="adj" fmla="val 1720"/>
            </a:avLst>
          </a:prstGeom>
          <a:solidFill>
            <a:srgbClr val="14213D"/>
          </a:solidFill>
          <a:ln/>
        </p:spPr>
      </p:sp>
      <p:sp>
        <p:nvSpPr>
          <p:cNvPr id="19" name="Shape 17"/>
          <p:cNvSpPr/>
          <p:nvPr/>
        </p:nvSpPr>
        <p:spPr>
          <a:xfrm>
            <a:off x="7726680" y="1600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77266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48472" y="16276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EDGE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48472" y="19202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Wow Factor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26680" y="2377440"/>
            <a:ext cx="3703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flakiness fingerprint — likely cause plus probability — computed before isolation even finishes.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 |  IBM TechXchange 2026 Hackathon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63040" y="146304"/>
            <a:ext cx="7863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Multi-Repo Dependency Upgrade Assistant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646920" y="347472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/>
        </p:spPr>
      </p:sp>
      <p:sp>
        <p:nvSpPr>
          <p:cNvPr id="7" name="Text 5"/>
          <p:cNvSpPr/>
          <p:nvPr/>
        </p:nvSpPr>
        <p:spPr>
          <a:xfrm>
            <a:off x="9646920" y="3474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6720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apply the same dependency bump across multiple repos in parallel, each fixing its own repo-specific breakage.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2.0 CAPABILITY MAPPING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429000"/>
            <a:ext cx="146304" cy="146304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310128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146304" cy="146304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3749040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398264"/>
            <a:ext cx="672084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553712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4828032"/>
            <a:ext cx="6263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upgrade time vs. one-at-a-time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52360" y="1325880"/>
            <a:ext cx="4251960" cy="5074920"/>
          </a:xfrm>
          <a:prstGeom prst="roundRect">
            <a:avLst>
              <a:gd name="adj" fmla="val 1720"/>
            </a:avLst>
          </a:prstGeom>
          <a:solidFill>
            <a:srgbClr val="14213D"/>
          </a:solidFill>
          <a:ln/>
        </p:spPr>
      </p:sp>
      <p:sp>
        <p:nvSpPr>
          <p:cNvPr id="19" name="Shape 17"/>
          <p:cNvSpPr/>
          <p:nvPr/>
        </p:nvSpPr>
        <p:spPr>
          <a:xfrm>
            <a:off x="7726680" y="1600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77266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48472" y="16276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EDGE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48472" y="19202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Wow Factor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26680" y="2377440"/>
            <a:ext cx="3703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dependency blast-radius view sequences a low-risk-first upgrade wave.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 |  IBM TechXchange 2026 Hackathon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63040" y="146304"/>
            <a:ext cx="7863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Postmortem Generator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646920" y="347472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/>
        </p:spPr>
      </p:sp>
      <p:sp>
        <p:nvSpPr>
          <p:cNvPr id="7" name="Text 5"/>
          <p:cNvSpPr/>
          <p:nvPr/>
        </p:nvSpPr>
        <p:spPr>
          <a:xfrm>
            <a:off x="9646920" y="3474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6720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reconciles logs, the ticket, and chat threads into a timeline; Agent Mode drafts a blameless postmortem.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2.0 CAPABILITY MAPPING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429000"/>
            <a:ext cx="146304" cy="146304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310128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146304" cy="146304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3749040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398264"/>
            <a:ext cx="672084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553712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4828032"/>
            <a:ext cx="6263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time &amp; completeness vs. manual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52360" y="1325880"/>
            <a:ext cx="4251960" cy="5074920"/>
          </a:xfrm>
          <a:prstGeom prst="roundRect">
            <a:avLst>
              <a:gd name="adj" fmla="val 1720"/>
            </a:avLst>
          </a:prstGeom>
          <a:solidFill>
            <a:srgbClr val="14213D"/>
          </a:solidFill>
          <a:ln/>
        </p:spPr>
      </p:sp>
      <p:sp>
        <p:nvSpPr>
          <p:cNvPr id="19" name="Shape 17"/>
          <p:cNvSpPr/>
          <p:nvPr/>
        </p:nvSpPr>
        <p:spPr>
          <a:xfrm>
            <a:off x="7726680" y="1600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77266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48472" y="16276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EDGE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48472" y="19202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Wow Factor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26680" y="2377440"/>
            <a:ext cx="3703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Multi-hypothesis root-cause generation plus similar-incident institutional memory.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 |  IBM TechXchange 2026 Hackathon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63040" y="146304"/>
            <a:ext cx="7863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Health &amp; Rollback Advisor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646920" y="347472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B2C4F"/>
          </a:solidFill>
          <a:ln/>
        </p:spPr>
      </p:sp>
      <p:sp>
        <p:nvSpPr>
          <p:cNvPr id="7" name="Text 5"/>
          <p:cNvSpPr/>
          <p:nvPr/>
        </p:nvSpPr>
        <p:spPr>
          <a:xfrm>
            <a:off x="9646920" y="3474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&amp; DEPLOYMENT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6720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continuously watches post-deploy signals against the release's own rollback criteria, reasoning shown explicitly.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2.0 CAPABILITY MAPPING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429000"/>
            <a:ext cx="146304" cy="146304"/>
          </a:xfrm>
          <a:prstGeom prst="ellipse">
            <a:avLst/>
          </a:prstGeom>
          <a:solidFill>
            <a:srgbClr val="1B2C4F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310128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146304" cy="146304"/>
          </a:xfrm>
          <a:prstGeom prst="ellipse">
            <a:avLst/>
          </a:prstGeom>
          <a:solidFill>
            <a:srgbClr val="1B2C4F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3749040"/>
            <a:ext cx="6428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398264"/>
            <a:ext cx="672084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553712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4828032"/>
            <a:ext cx="6263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degradation to recommendation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52360" y="1325880"/>
            <a:ext cx="4251960" cy="5074920"/>
          </a:xfrm>
          <a:prstGeom prst="roundRect">
            <a:avLst>
              <a:gd name="adj" fmla="val 1720"/>
            </a:avLst>
          </a:prstGeom>
          <a:solidFill>
            <a:srgbClr val="14213D"/>
          </a:solidFill>
          <a:ln/>
        </p:spPr>
      </p:sp>
      <p:sp>
        <p:nvSpPr>
          <p:cNvPr id="19" name="Shape 17"/>
          <p:cNvSpPr/>
          <p:nvPr/>
        </p:nvSpPr>
        <p:spPr>
          <a:xfrm>
            <a:off x="7726680" y="1600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77266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48472" y="16276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EDGE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48472" y="19202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Wow Factor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26680" y="2377440"/>
            <a:ext cx="3703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deployment digital twin projects the signal trend before the threshold is breached.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 |  IBM TechXchange 2026 Hackathon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Cross-Project Recommendations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prioritize regardless of which concept a team builds.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ONLY HAVE TIME FOR THREE CHANGES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Wins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Seed Data Repository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Pre-seeded bugs, flaky tests, vulnerable dependencies, and a sample incident — saves 4–6 hours of Day-1 setup variance.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4256" y="155448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2856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62856" y="23774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Grounding-Accuracy Check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62856" y="29718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agent cited a real file, commit, or log rather than a plausible-sounding hallucination — judges weight this heavily.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19872" y="155448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6F8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48472" y="23774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Innovation Edge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48472" y="29718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lever on the Creativity &amp; Innovation criterion for whichever concept a team actually chose.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16052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CONCEPTS BY JUDGE APPEAL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48056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ranking teams need to follow, but a pattern worth knowing: Bug-to-Fix Debugging Agent (most complete autonomous-agent story) • Deployment Health &amp; Rollback Advisor (strongest enterprise visual) • Security &amp; Vulnerability Patch Agent (clearest business value) • Flaky Test Diagnosis Agent (most technically novel) • Incident Postmortem Generator (strongest Document Understanding showcase).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 |  IBM TechXchange 2026 Hackathon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STRENGTHENING THE PACKAGE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Additions for the Submission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746504"/>
            <a:ext cx="274320" cy="274320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536192"/>
            <a:ext cx="2880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Composition Matrix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206240" y="1536192"/>
            <a:ext cx="7223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each project's build to the skills it actually needs, so teams self-select faster.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11064240" cy="84124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624328"/>
            <a:ext cx="274320" cy="274320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414016"/>
            <a:ext cx="2880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Seed Data Repository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206240" y="2414016"/>
            <a:ext cx="7223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forkable repo pre-seeded with bugs, flaky tests, and vulnerabilities — eliminates Day-1 setup variance.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18688"/>
            <a:ext cx="1106424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3502152"/>
            <a:ext cx="274320" cy="274320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3291840"/>
            <a:ext cx="2880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Recording Guidelines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206240" y="3291840"/>
            <a:ext cx="7223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3-minute structure: Problem → Live trigger → Result → Metric.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096512"/>
            <a:ext cx="11064240" cy="84124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4379976"/>
            <a:ext cx="274320" cy="274320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169664"/>
            <a:ext cx="2880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Artifact Checklist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206240" y="4169664"/>
            <a:ext cx="7223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video; source code; exported Bob 2.0 session report; impact screenshot; architecture diagram.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974336"/>
            <a:ext cx="1106424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5257800"/>
            <a:ext cx="274320" cy="274320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5047488"/>
            <a:ext cx="2880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Post-Hackathon Roadmap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206240" y="5047488"/>
            <a:ext cx="7223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paragraph per project: “with two more weeks, what's next?”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 |  IBM TechXchange 2026 Hackathon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2926080"/>
            <a:ext cx="5943600" cy="5943600"/>
          </a:xfrm>
          <a:prstGeom prst="ellipse">
            <a:avLst/>
          </a:prstGeom>
          <a:solidFill>
            <a:srgbClr val="1B2C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13TH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Concept: Knowledge Graph Synthesizer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team wants an alternative to the twelve core concepts, this is the strongest candidate raised across the review passes.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291840"/>
            <a:ext cx="8778240" cy="2011680"/>
          </a:xfrm>
          <a:prstGeom prst="roundRect">
            <a:avLst>
              <a:gd name="adj" fmla="val 3636"/>
            </a:avLst>
          </a:prstGeom>
          <a:solidFill>
            <a:srgbClr val="1B2C4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5204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flat retrieval, use Document Understanding to extract entities — services, owners, APIs, dependencies — from docs and tickets, and assemble a navigable knowledge graph: “click auth-service, see every related ticket, owner, recent commit, and downstream dependent.”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48640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Demoed well, it cuts dependency-tracing time from ~45 minutes to under a minute — but it demands the deepest Document Understanding usage of any option, making it the riskiest to scope for 48 hours.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1B2C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evidence. Show confidence.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verification.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twelve project specifications, together with the Innovation Layer, give every hackathon team both a buildable 48-hour plan and a clear, low-effort lever on the Creativity &amp; Innovation score — that's the differentiator most likely to matter across all twelve.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532120"/>
            <a:ext cx="219456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715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i3 Academy Hackathon Team — Final Reviewed Edition, August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2026-08-24T04:39:48Z</dcterms:created>
  <dcterms:modified xsi:type="dcterms:W3CDTF">2026-08-24T04:39:48Z</dcterms:modified>
</cp:coreProperties>
</file>