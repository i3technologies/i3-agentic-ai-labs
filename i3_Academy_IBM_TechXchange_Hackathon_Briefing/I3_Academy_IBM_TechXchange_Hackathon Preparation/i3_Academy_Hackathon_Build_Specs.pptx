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421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754880"/>
            <a:ext cx="4572000" cy="4572000"/>
          </a:xfrm>
          <a:prstGeom prst="ellipse">
            <a:avLst/>
          </a:prstGeom>
          <a:solidFill>
            <a:srgbClr val="0D7C8F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i3 ACADEMY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0241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Silver Business Partner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Build Specifications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TechXchange 2026 — Pre-Conference Dev Day Hackathon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Architect-level build plans for all 12 project concepts, mapped to IBM Bob 2.0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846320"/>
            <a:ext cx="502920" cy="36576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29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i3 Academy Bootcamp Team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28–30, 2026   |   i3 Technologies · i3 Academy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with purpose using IBM Bob 2.0.”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improve one specific developer workflow with a working prototype. Judges want a clearly defined problem, a real solution built on IBM Bob 2.0, and measurable impact — not a broad, unfocused demo.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TARGET SDLC AREA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0D7C8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68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76272" y="2468880"/>
            <a:ext cx="1453896" cy="457200"/>
          </a:xfrm>
          <a:prstGeom prst="roundRect">
            <a:avLst>
              <a:gd name="adj" fmla="val 20000"/>
            </a:avLst>
          </a:prstGeom>
          <a:solidFill>
            <a:srgbClr val="8E44AD"/>
          </a:solidFill>
          <a:ln/>
        </p:spPr>
      </p:sp>
      <p:sp>
        <p:nvSpPr>
          <p:cNvPr id="9" name="Text 7"/>
          <p:cNvSpPr/>
          <p:nvPr/>
        </p:nvSpPr>
        <p:spPr>
          <a:xfrm>
            <a:off x="2176272" y="2468880"/>
            <a:ext cx="1453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94760" y="2468880"/>
            <a:ext cx="1655064" cy="457200"/>
          </a:xfrm>
          <a:prstGeom prst="roundRect">
            <a:avLst>
              <a:gd name="adj" fmla="val 20000"/>
            </a:avLst>
          </a:prstGeom>
          <a:solidFill>
            <a:srgbClr val="C8960C"/>
          </a:solidFill>
          <a:ln/>
        </p:spPr>
      </p:sp>
      <p:sp>
        <p:nvSpPr>
          <p:cNvPr id="11" name="Text 9"/>
          <p:cNvSpPr/>
          <p:nvPr/>
        </p:nvSpPr>
        <p:spPr>
          <a:xfrm>
            <a:off x="3794760" y="2468880"/>
            <a:ext cx="1655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14416" y="2468880"/>
            <a:ext cx="1252728" cy="457200"/>
          </a:xfrm>
          <a:prstGeom prst="roundRect">
            <a:avLst>
              <a:gd name="adj" fmla="val 20000"/>
            </a:avLst>
          </a:prstGeom>
          <a:solidFill>
            <a:srgbClr val="1B7A43"/>
          </a:solidFill>
          <a:ln/>
        </p:spPr>
      </p:sp>
      <p:sp>
        <p:nvSpPr>
          <p:cNvPr id="13" name="Text 11"/>
          <p:cNvSpPr/>
          <p:nvPr/>
        </p:nvSpPr>
        <p:spPr>
          <a:xfrm>
            <a:off x="5614416" y="2468880"/>
            <a:ext cx="1252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31736" y="2468880"/>
            <a:ext cx="1655064" cy="457200"/>
          </a:xfrm>
          <a:prstGeom prst="roundRect">
            <a:avLst>
              <a:gd name="adj" fmla="val 20000"/>
            </a:avLst>
          </a:prstGeom>
          <a:solidFill>
            <a:srgbClr val="B04A2E"/>
          </a:solidFill>
          <a:ln/>
        </p:spPr>
      </p:sp>
      <p:sp>
        <p:nvSpPr>
          <p:cNvPr id="15" name="Text 13"/>
          <p:cNvSpPr/>
          <p:nvPr/>
        </p:nvSpPr>
        <p:spPr>
          <a:xfrm>
            <a:off x="7031736" y="2468880"/>
            <a:ext cx="1655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51392" y="246888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14213D"/>
          </a:solidFill>
          <a:ln/>
        </p:spPr>
      </p:sp>
      <p:sp>
        <p:nvSpPr>
          <p:cNvPr id="17" name="Text 15"/>
          <p:cNvSpPr/>
          <p:nvPr/>
        </p:nvSpPr>
        <p:spPr>
          <a:xfrm>
            <a:off x="8851392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&amp; Deployment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 Window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373075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28, 10:00 AM ET →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30, 10:00 AM 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43400" y="32461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373075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Individual, or teams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up to 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0" y="32461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/>
        </p:spPr>
      </p:sp>
      <p:sp>
        <p:nvSpPr>
          <p:cNvPr id="25" name="Text 23"/>
          <p:cNvSpPr/>
          <p:nvPr/>
        </p:nvSpPr>
        <p:spPr>
          <a:xfrm>
            <a:off x="845820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58200" y="373075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· written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· Bob session report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892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2.0 CAPABILITIES TO SHOWCASE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303520"/>
            <a:ext cx="128016" cy="12801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1937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54864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multi-step execution — plan, act, verify, iterate.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251960" y="5303520"/>
            <a:ext cx="128016" cy="12801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2" name="Text 30"/>
          <p:cNvSpPr/>
          <p:nvPr/>
        </p:nvSpPr>
        <p:spPr>
          <a:xfrm>
            <a:off x="4480560" y="51937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480560" y="54864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 workflow across specialists running concurrently.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46720" y="5303520"/>
            <a:ext cx="128016" cy="12801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5" name="Text 33"/>
          <p:cNvSpPr/>
          <p:nvPr/>
        </p:nvSpPr>
        <p:spPr>
          <a:xfrm>
            <a:off x="8275320" y="51937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75320" y="54864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the agent in real READMEs, tickets &amp; specs.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Judging Criteria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points total, scored by a judging panel — minimum 12.5 points required for prize consideration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48840" y="19202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&amp; Feasibility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48840" y="246888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prototype actually work end to end?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288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492240" y="2651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09560" y="19202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&amp; Efficiency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09560" y="246888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measurably save time, reduce errors, or cut effort?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14213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519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731520" y="5074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48840" y="434340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Usability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48840" y="489204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polished, intuitive, and easy to understand?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02336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1421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519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6492240" y="5074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9560" y="434340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&amp; Innovation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09560" y="489204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use Bob 2.0 in a genuinely novel way?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6172200"/>
            <a:ext cx="11274552" cy="502920"/>
          </a:xfrm>
          <a:prstGeom prst="roundRect">
            <a:avLst>
              <a:gd name="adj" fmla="val 14545"/>
            </a:avLst>
          </a:prstGeom>
          <a:solidFill>
            <a:srgbClr val="FCA31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your measurable impact number ready by Day 2 — “effectiveness &amp; efficiency” needs data, not a vibe.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219456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Codebase Onboarding Agent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177272" y="402336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D7C8F"/>
          </a:solidFill>
          <a:ln/>
        </p:spPr>
      </p:sp>
      <p:sp>
        <p:nvSpPr>
          <p:cNvPr id="6" name="Text 4"/>
          <p:cNvSpPr/>
          <p:nvPr/>
        </p:nvSpPr>
        <p:spPr>
          <a:xfrm>
            <a:off x="10177272" y="40233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5623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repo, wiki &amp; tickets into a context store. Agent Mode sequences a role-specific ramp-up plan, rendered as a first-week task list.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35808"/>
            <a:ext cx="5623560" cy="502920"/>
          </a:xfrm>
          <a:prstGeom prst="roundRect">
            <a:avLst>
              <a:gd name="adj" fmla="val 10909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3035808"/>
            <a:ext cx="5294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GitHub/GitLab API  ·  Confluence API  ·  Jira API  ·  Vector Index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2.0 CAPABILITY MAPPING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105656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4005072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the plan in real README, tickets &amp; design docs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608576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4507992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the ramp-up sequence and verifies each step against the repo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5111496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5010912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backend, frontend &amp; infra areas in parallel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5508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BUILD PLAN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173736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17373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6948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ingestion + context store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5080" y="22402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2240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69480" y="2240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draft plan, subagents, renderer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274320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2743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9480" y="2743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record demo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33832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METRIC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55080" y="37033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CA311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370332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Time-to-first-commit for a simulated new hire, with vs. without the agent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219456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PR Review Assistant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072116" y="402336"/>
            <a:ext cx="1659636" cy="384048"/>
          </a:xfrm>
          <a:prstGeom prst="roundRect">
            <a:avLst>
              <a:gd name="adj" fmla="val 19048"/>
            </a:avLst>
          </a:prstGeom>
          <a:solidFill>
            <a:srgbClr val="C8960C"/>
          </a:solidFill>
          <a:ln/>
        </p:spPr>
      </p:sp>
      <p:sp>
        <p:nvSpPr>
          <p:cNvPr id="6" name="Text 4"/>
          <p:cNvSpPr/>
          <p:nvPr/>
        </p:nvSpPr>
        <p:spPr>
          <a:xfrm>
            <a:off x="10072116" y="402336"/>
            <a:ext cx="16596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5623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subagents — style, security, coverage — scan a pull request concurrently. A merge agent consolidates findings into one structured review comment.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35808"/>
            <a:ext cx="5623560" cy="502920"/>
          </a:xfrm>
          <a:prstGeom prst="roundRect">
            <a:avLst>
              <a:gd name="adj" fmla="val 10909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3035808"/>
            <a:ext cx="5294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GitHub/GitLab Webhooks  ·  Semgrep  ·  Coverage Tools  ·  REST API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2.0 CAPABILITY MAPPING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105656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4005072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style, security &amp; coverage lanes in parallel, not sequentially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608576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4507992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issues and drafts a fix rather than only reporting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5111496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5010912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team's own style guide, not generic rules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5508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BUILD PLAN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173736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17373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6948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receiver + subagent scaffolds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5080" y="22402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2240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69480" y="2240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run + merge/dedupe logic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274320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2743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9480" y="2743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turnaround &amp; record demo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33832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METRIC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55080" y="37033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CA311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370332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turnaround time &amp; review passes vs. a single sequential reviewer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219456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Bug-to-Fix Debugging Agent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82428" y="402336"/>
            <a:ext cx="1449324" cy="384048"/>
          </a:xfrm>
          <a:prstGeom prst="roundRect">
            <a:avLst>
              <a:gd name="adj" fmla="val 19048"/>
            </a:avLst>
          </a:prstGeom>
          <a:solidFill>
            <a:srgbClr val="8E44AD"/>
          </a:solidFill>
          <a:ln/>
        </p:spPr>
      </p:sp>
      <p:sp>
        <p:nvSpPr>
          <p:cNvPr id="6" name="Text 4"/>
          <p:cNvSpPr/>
          <p:nvPr/>
        </p:nvSpPr>
        <p:spPr>
          <a:xfrm>
            <a:off x="10282428" y="402336"/>
            <a:ext cx="14493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5623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Agent Mode session reproduces, traces, patches, and re-tests a seeded bug end to end, with a full exportable session log.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35808"/>
            <a:ext cx="5623560" cy="502920"/>
          </a:xfrm>
          <a:prstGeom prst="roundRect">
            <a:avLst>
              <a:gd name="adj" fmla="val 10909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3035808"/>
            <a:ext cx="5294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Sandbox  ·  Git Log / Blame  ·  Test Runner  ·  Session Export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2.0 CAPABILITY MAPPING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105656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4005072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plan → act → verify → iterate without a prompt at each step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608576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4507992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bug ticket and linked logs for context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5111496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5010912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Reporting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an auditable record of every action taken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5508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BUILD PLAN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173736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17373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6948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bug + sandboxed repro runner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5080" y="22402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2240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69480" y="2240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 → patch → verify loop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274320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2743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9480" y="2743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the loop &amp; record demo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33832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METRIC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55080" y="37033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CA311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370332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bug report to verified fix; manual steps eliminated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219456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Coverage Generator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92740" y="402336"/>
            <a:ext cx="1239012" cy="384048"/>
          </a:xfrm>
          <a:prstGeom prst="roundRect">
            <a:avLst>
              <a:gd name="adj" fmla="val 19048"/>
            </a:avLst>
          </a:prstGeom>
          <a:solidFill>
            <a:srgbClr val="1B7A43"/>
          </a:solidFill>
          <a:ln/>
        </p:spPr>
      </p:sp>
      <p:sp>
        <p:nvSpPr>
          <p:cNvPr id="6" name="Text 4"/>
          <p:cNvSpPr/>
          <p:nvPr/>
        </p:nvSpPr>
        <p:spPr>
          <a:xfrm>
            <a:off x="10492740" y="402336"/>
            <a:ext cx="12390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5623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codebase is split by module. Subagents generate tests in parallel; Agent Mode verifies they pass and are meaningful before one coverage report.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35808"/>
            <a:ext cx="5623560" cy="502920"/>
          </a:xfrm>
          <a:prstGeom prst="roundRect">
            <a:avLst>
              <a:gd name="adj" fmla="val 10909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3035808"/>
            <a:ext cx="5294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Import-Graph Partitioner  ·  pytest / jest  ·  coverage.py / istanbul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2.0 CAPABILITY MAPPING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105656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4005072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unit &amp; integration tests per module simultaneously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608576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4507992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runs, verifies and iterates on generated tests, not just dumps them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5111496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5010912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infers expected behaviour from existing docstrings/specs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5508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BUILD PLAN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173736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17373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6948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modules + baseline coverage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5080" y="22402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2240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69480" y="2240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generation + verify/iterate loop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274320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2743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9480" y="2743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report &amp; demo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33832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METRIC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55080" y="37033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CA311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370332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Percentage-point coverage increase vs. estimated manual test-writing time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219456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Docs Recovery Agent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072116" y="402336"/>
            <a:ext cx="1659636" cy="384048"/>
          </a:xfrm>
          <a:prstGeom prst="roundRect">
            <a:avLst>
              <a:gd name="adj" fmla="val 19048"/>
            </a:avLst>
          </a:prstGeom>
          <a:solidFill>
            <a:srgbClr val="B04A2E"/>
          </a:solidFill>
          <a:ln/>
        </p:spPr>
      </p:sp>
      <p:sp>
        <p:nvSpPr>
          <p:cNvPr id="6" name="Text 4"/>
          <p:cNvSpPr/>
          <p:nvPr/>
        </p:nvSpPr>
        <p:spPr>
          <a:xfrm>
            <a:off x="10072116" y="402336"/>
            <a:ext cx="16596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5623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ingests scattered tickets, design docs &amp; chat threads for a legacy module and reconciles them into one current runbook.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35808"/>
            <a:ext cx="5623560" cy="502920"/>
          </a:xfrm>
          <a:prstGeom prst="roundRect">
            <a:avLst>
              <a:gd name="adj" fmla="val 10909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3035808"/>
            <a:ext cx="5294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Jira/GitHub API  ·  Confluence API  ·  Chat Exports  ·  Markdown Renderer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2.0 CAPABILITY MAPPING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105656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4005072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reconciles historical artifacts at scale into one narrative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672584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4572000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the synthesis into a runbook and flags contradictions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5508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BUILD PLAN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55080" y="173736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7373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6948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historical corpus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22402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2240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9480" y="2240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+ runbook template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274320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743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69480" y="2743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comprehension &amp; record demo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33832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METRIC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55080" y="37033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CA311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370332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time to understand the module; documents reconciled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219456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Readiness Checker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25712" y="402336"/>
            <a:ext cx="2606040" cy="384048"/>
          </a:xfrm>
          <a:prstGeom prst="roundRect">
            <a:avLst>
              <a:gd name="adj" fmla="val 19048"/>
            </a:avLst>
          </a:prstGeom>
          <a:solidFill>
            <a:srgbClr val="14213D"/>
          </a:solidFill>
          <a:ln/>
        </p:spPr>
      </p:sp>
      <p:sp>
        <p:nvSpPr>
          <p:cNvPr id="6" name="Text 4"/>
          <p:cNvSpPr/>
          <p:nvPr/>
        </p:nvSpPr>
        <p:spPr>
          <a:xfrm>
            <a:off x="9125712" y="402336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&amp; DEPLOYMENT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5623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verifies each release checklist item live against real repo/CI state, then drafts release notes from the actual merged changes.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35808"/>
            <a:ext cx="5623560" cy="502920"/>
          </a:xfrm>
          <a:prstGeom prst="roundRect">
            <a:avLst>
              <a:gd name="adj" fmla="val 10909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3035808"/>
            <a:ext cx="5294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API (GitHub Actions)  ·  Changelog Conventions  ·  Git / PR History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2.0 CAPABILITY MAPPING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105656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4005072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checklist items against live state, not a static list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672584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4572000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accurate release notes from commits &amp; PRs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5508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BUILD PLAN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55080" y="173736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7373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6948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a real release checklist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22402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2240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9480" y="2240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verification + notes drafting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274320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743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69480" y="2743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a missing item &amp; demo the catch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33832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METRIC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55080" y="37033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CA311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370332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Release-blocking issues caught; time saved drafting notes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219456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Onboarding Chatbot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177272" y="402336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D7C8F"/>
          </a:solidFill>
          <a:ln/>
        </p:spPr>
      </p:sp>
      <p:sp>
        <p:nvSpPr>
          <p:cNvPr id="6" name="Text 4"/>
          <p:cNvSpPr/>
          <p:nvPr/>
        </p:nvSpPr>
        <p:spPr>
          <a:xfrm>
            <a:off x="10177272" y="40233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5623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agent answers new-hire questions grounded in the codebase, wiki &amp; tickets in real time, and chains follow-up actions on request.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35808"/>
            <a:ext cx="5623560" cy="502920"/>
          </a:xfrm>
          <a:prstGeom prst="roundRect">
            <a:avLst>
              <a:gd name="adj" fmla="val 10909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3035808"/>
            <a:ext cx="5294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Context Store  ·  React / Slack Chat UI  ·  Confidence Threshold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2.0 CAPABILITY MAPPING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105656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4005072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every answer in real project context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672584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4572000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follow-up actions — pulling a file or opening a ticket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5508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BUILD PLAN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55080" y="173736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7373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6948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store + chat UI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22402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2240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9480" y="2240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Q&amp;A + action chaining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274320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743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69480" y="2743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resolution rate &amp; demo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33832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METRIC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55080" y="37033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CA311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370332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resolved without human escalation; answer accuracy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219456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Vulnerability Patch Agent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072116" y="402336"/>
            <a:ext cx="1659636" cy="384048"/>
          </a:xfrm>
          <a:prstGeom prst="roundRect">
            <a:avLst>
              <a:gd name="adj" fmla="val 19048"/>
            </a:avLst>
          </a:prstGeom>
          <a:solidFill>
            <a:srgbClr val="C8960C"/>
          </a:solidFill>
          <a:ln/>
        </p:spPr>
      </p:sp>
      <p:sp>
        <p:nvSpPr>
          <p:cNvPr id="6" name="Text 4"/>
          <p:cNvSpPr/>
          <p:nvPr/>
        </p:nvSpPr>
        <p:spPr>
          <a:xfrm>
            <a:off x="10072116" y="402336"/>
            <a:ext cx="16596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5623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scan dependencies and source code concurrently for known CVEs and vulnerable patterns; Agent Mode drafts a sandboxed, reviewable patch per finding.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35808"/>
            <a:ext cx="5623560" cy="502920"/>
          </a:xfrm>
          <a:prstGeom prst="roundRect">
            <a:avLst>
              <a:gd name="adj" fmla="val 10909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3035808"/>
            <a:ext cx="5294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audit / pip-audit  ·  OSV Database  ·  Semgrep  ·  Sandboxed Branch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2.0 CAPABILITY MAPPING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105656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4005072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dependency manifests and source code concurrently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672584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4572000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drafts, applies &amp; tests patches, gated for human review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5508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BUILD PLAN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55080" y="173736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7373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6948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a vulnerable dependency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22402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2240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9480" y="2240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+ sandboxed patch drafting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274320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743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69480" y="2743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detection-to-patch &amp; demo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33832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METRIC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55080" y="37033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CA311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370332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 found; time from detection to reviewable patch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219456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Flaky Test Diagnosis Agent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92740" y="402336"/>
            <a:ext cx="1239012" cy="384048"/>
          </a:xfrm>
          <a:prstGeom prst="roundRect">
            <a:avLst>
              <a:gd name="adj" fmla="val 19048"/>
            </a:avLst>
          </a:prstGeom>
          <a:solidFill>
            <a:srgbClr val="1B7A43"/>
          </a:solidFill>
          <a:ln/>
        </p:spPr>
      </p:sp>
      <p:sp>
        <p:nvSpPr>
          <p:cNvPr id="6" name="Text 4"/>
          <p:cNvSpPr/>
          <p:nvPr/>
        </p:nvSpPr>
        <p:spPr>
          <a:xfrm>
            <a:off x="10492740" y="402336"/>
            <a:ext cx="12390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5623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reruns a flaky test repeatedly, correlates intermittent failures with recent changes, isolates the trigger, and validates a fix.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35808"/>
            <a:ext cx="5623560" cy="502920"/>
          </a:xfrm>
          <a:prstGeom prst="roundRect">
            <a:avLst>
              <a:gd name="adj" fmla="val 10909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3035808"/>
            <a:ext cx="5294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 Harness  ·  Git Log Correlation  ·  CI Environment Metadata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2.0 CAPABILITY MAPPING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105656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4005072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across multiple reruns unattended, narrowing the cause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672584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4572000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failures with recent code/environment changes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5508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BUILD PLAN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55080" y="173736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7373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6948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a deterministic flaky test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22402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2240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9480" y="2240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loop across reruns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274320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743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69480" y="2743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fix over 20 reruns &amp; demo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33832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METRIC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55080" y="37033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CA311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370332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Reruns needed to isolate root cause; flake eliminated (Y/N)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219456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Multi-Repo Dependency Upgrade Assistant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072116" y="402336"/>
            <a:ext cx="1659636" cy="384048"/>
          </a:xfrm>
          <a:prstGeom prst="roundRect">
            <a:avLst>
              <a:gd name="adj" fmla="val 19048"/>
            </a:avLst>
          </a:prstGeom>
          <a:solidFill>
            <a:srgbClr val="B04A2E"/>
          </a:solidFill>
          <a:ln/>
        </p:spPr>
      </p:sp>
      <p:sp>
        <p:nvSpPr>
          <p:cNvPr id="6" name="Text 4"/>
          <p:cNvSpPr/>
          <p:nvPr/>
        </p:nvSpPr>
        <p:spPr>
          <a:xfrm>
            <a:off x="10072116" y="402336"/>
            <a:ext cx="16596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5623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apply the same dependency upgrade across multiple repositories in parallel; Agent Mode fixes repo-specific breakage and re-verifies each build.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35808"/>
            <a:ext cx="5623560" cy="502920"/>
          </a:xfrm>
          <a:prstGeom prst="roundRect">
            <a:avLst>
              <a:gd name="adj" fmla="val 10909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3035808"/>
            <a:ext cx="5294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Registry  ·  Isolated Sandboxes  ·  Build / Test Verifier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2.0 CAPABILITY MAPPING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105656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4005072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multiple repos simultaneously instead of sequentially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672584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4572000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repo-specific breakage and re-verifies the build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5508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BUILD PLAN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55080" y="173736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7373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6948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+ sandboxed checkouts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22402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2240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9480" y="2240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upgrade + fix/verify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274320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743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69480" y="2743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vs. sequential baseline &amp; demo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33832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METRIC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55080" y="37033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CA311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370332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upgrade time across all repos vs. one-at-a-time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219456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Postmortem Generator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072116" y="402336"/>
            <a:ext cx="1659636" cy="384048"/>
          </a:xfrm>
          <a:prstGeom prst="roundRect">
            <a:avLst>
              <a:gd name="adj" fmla="val 19048"/>
            </a:avLst>
          </a:prstGeom>
          <a:solidFill>
            <a:srgbClr val="B04A2E"/>
          </a:solidFill>
          <a:ln/>
        </p:spPr>
      </p:sp>
      <p:sp>
        <p:nvSpPr>
          <p:cNvPr id="6" name="Text 4"/>
          <p:cNvSpPr/>
          <p:nvPr/>
        </p:nvSpPr>
        <p:spPr>
          <a:xfrm>
            <a:off x="10072116" y="402336"/>
            <a:ext cx="16596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5623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reconciles logs, the incident ticket &amp; chat threads into one timeline; Agent Mode drafts a structured, blameless postmortem.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35808"/>
            <a:ext cx="5623560" cy="502920"/>
          </a:xfrm>
          <a:prstGeom prst="roundRect">
            <a:avLst>
              <a:gd name="adj" fmla="val 10909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3035808"/>
            <a:ext cx="5294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Export  ·  Incident Ticket API  ·  Chat Export  ·  Postmortem Schema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2.0 CAPABILITY MAPPING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105656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4005072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unstructured sources into one coherent timeline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672584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4572000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the draft and surfaces open follow-up items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5508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BUILD PLAN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55080" y="173736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7373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6948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incident sources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22402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2240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9480" y="2240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Reconciler + postmortem structurer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274320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743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69480" y="2743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completeness vs. manual &amp; demo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33832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METRIC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55080" y="37033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CA311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370332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complete draft; timeline completeness vs. manual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219456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Health &amp; Rollback Advisor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25712" y="402336"/>
            <a:ext cx="2606040" cy="384048"/>
          </a:xfrm>
          <a:prstGeom prst="roundRect">
            <a:avLst>
              <a:gd name="adj" fmla="val 19048"/>
            </a:avLst>
          </a:prstGeom>
          <a:solidFill>
            <a:srgbClr val="14213D"/>
          </a:solidFill>
          <a:ln/>
        </p:spPr>
      </p:sp>
      <p:sp>
        <p:nvSpPr>
          <p:cNvPr id="6" name="Text 4"/>
          <p:cNvSpPr/>
          <p:nvPr/>
        </p:nvSpPr>
        <p:spPr>
          <a:xfrm>
            <a:off x="9125712" y="402336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&amp; DEPLOYMENT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5623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continuously watches post-deploy signals against the release's own rollback criteria and recommends proceed/rollback with visible reasoning.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35808"/>
            <a:ext cx="5623560" cy="502920"/>
          </a:xfrm>
          <a:prstGeom prst="roundRect">
            <a:avLst>
              <a:gd name="adj" fmla="val 10909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3035808"/>
            <a:ext cx="5294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API / Simulated Feed  ·  Runbook Parsing  ·  Polling Loop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2.0 CAPABILITY MAPPING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105656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4005072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signals continuously and acts on a threshold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672584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4572000"/>
            <a:ext cx="5404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the recommendation against the release's own runbook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5508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BUILD PLAN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55080" y="173736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7373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6948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signal feed + runbook ingestion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22402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2240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9480" y="2240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loop + reasoning output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274320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743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69480" y="2743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degradation scenario &amp; demo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33832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METRIC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55080" y="37033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CA311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370332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signal degradation to rollback recommendation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Winning Submission Checklist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440680" cy="3977640"/>
          </a:xfrm>
          <a:prstGeom prst="roundRect">
            <a:avLst>
              <a:gd name="adj" fmla="val 2069"/>
            </a:avLst>
          </a:prstGeom>
          <a:solidFill>
            <a:srgbClr val="F4F5F7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5448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0D7C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340864"/>
            <a:ext cx="128016" cy="128016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1284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clearly defined problem — not several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118104"/>
            <a:ext cx="128016" cy="128016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99008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built on IBM Bob 2.0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895344"/>
            <a:ext cx="128016" cy="128016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76732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Agent Mode, Subagents, or Document Understanding meaningfully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672584"/>
            <a:ext cx="128016" cy="128016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54456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or sample project as the test bed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3640" y="1234440"/>
            <a:ext cx="5440680" cy="3977640"/>
          </a:xfrm>
          <a:prstGeom prst="roundRect">
            <a:avLst>
              <a:gd name="adj" fmla="val 2069"/>
            </a:avLst>
          </a:prstGeom>
          <a:solidFill>
            <a:srgbClr val="F4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155448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C8960C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554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29400" y="2340864"/>
            <a:ext cx="128016" cy="128016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221284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measurable before/after impact number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629400" y="3118104"/>
            <a:ext cx="128016" cy="128016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299008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Polished, intuitive demo video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629400" y="3895344"/>
            <a:ext cx="128016" cy="128016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376732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problem/solution + Bob usage statements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29400" y="4672584"/>
            <a:ext cx="128016" cy="128016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454456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IBM Bob task/session report attached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57200" y="544068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0A254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44068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Advice: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measurable impact number ready by day 2 — “effectiveness &amp; efficiency” is 25% of the score and needs data, not a vibe.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4213D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Build?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your team, pick your SDLC focus area, and register your hackathon interest in your IBM TechXchange profile before August 28.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297680"/>
            <a:ext cx="502920" cy="36576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Reach your i3 Academy program lead.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 |  i3 Academy  |  IBM Silver Business Partner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2026-08-23T18:22:41Z</dcterms:created>
  <dcterms:modified xsi:type="dcterms:W3CDTF">2026-08-23T18:22:41Z</dcterms:modified>
</cp:coreProperties>
</file>